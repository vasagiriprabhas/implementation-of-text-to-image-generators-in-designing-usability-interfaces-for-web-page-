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sldIdLst>
    <p:sldId id="256" r:id="rId7"/>
    <p:sldId id="275" r:id="rId8"/>
    <p:sldId id="310" r:id="rId9"/>
    <p:sldId id="292" r:id="rId10"/>
    <p:sldId id="298" r:id="rId11"/>
    <p:sldId id="307" r:id="rId12"/>
    <p:sldId id="308" r:id="rId13"/>
    <p:sldId id="302" r:id="rId14"/>
    <p:sldId id="286" r:id="rId15"/>
    <p:sldId id="309" r:id="rId16"/>
    <p:sldId id="28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6666FF"/>
    <a:srgbClr val="66CCFF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8890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/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Freeform 14"/>
          <p:cNvSpPr/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Freeform 12"/>
          <p:cNvSpPr/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/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Freeform 16"/>
          <p:cNvSpPr/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Freeform 17"/>
          <p:cNvSpPr/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Freeform 18"/>
          <p:cNvSpPr/>
          <p:nvPr/>
        </p:nvSpPr>
        <p:spPr bwMode="auto">
          <a:xfrm>
            <a:off x="7931152" y="4246564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Freeform 19"/>
          <p:cNvSpPr/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1" name="Freeform 20"/>
          <p:cNvSpPr/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Freeform 21"/>
          <p:cNvSpPr/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3" name="Freeform 22"/>
          <p:cNvSpPr/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4" name="Freeform 23"/>
          <p:cNvSpPr/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5" name="Freeform 24"/>
          <p:cNvSpPr/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6" name="Freeform 25"/>
          <p:cNvSpPr/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Freeform 26"/>
          <p:cNvSpPr/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61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025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025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61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305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12192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07893"/>
            <a:ext cx="103632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10566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3" y="4962530"/>
            <a:ext cx="10513484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3" y="3462343"/>
            <a:ext cx="10513484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49784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anose="020B0604020202020204" pitchFamily="34" charset="0"/>
              <a:buChar char="•"/>
              <a:defRPr/>
            </a:lvl6pPr>
            <a:lvl7pPr>
              <a:buClr>
                <a:schemeClr val="tx2"/>
              </a:buClr>
              <a:buFont typeface="Arial" panose="020B0604020202020204" pitchFamily="34" charset="0"/>
              <a:buChar char="•"/>
              <a:defRPr/>
            </a:lvl7pPr>
            <a:lvl8pPr>
              <a:buClr>
                <a:schemeClr val="tx2"/>
              </a:buClr>
              <a:buFont typeface="Arial" panose="020B0604020202020204" pitchFamily="34" charset="0"/>
              <a:buChar char="•"/>
              <a:defRPr/>
            </a:lvl8pPr>
            <a:lvl9pPr>
              <a:buClr>
                <a:schemeClr val="tx2"/>
              </a:buClr>
              <a:buFont typeface="Arial" panose="020B0604020202020204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1600200"/>
            <a:ext cx="49784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209800"/>
            <a:ext cx="49784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209800"/>
            <a:ext cx="49784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283200" y="1447800"/>
            <a:ext cx="6197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447800"/>
            <a:ext cx="39624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6864" y="2547895"/>
            <a:ext cx="39624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447800"/>
            <a:ext cx="39624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09792" y="1447800"/>
            <a:ext cx="4559808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-1" fmla="*/ 0 w 3419856"/>
              <a:gd name="connsiteY0-2" fmla="*/ 74450 h 3429000"/>
              <a:gd name="connsiteX1-3" fmla="*/ 21806 w 3419856"/>
              <a:gd name="connsiteY1-4" fmla="*/ 21806 h 3429000"/>
              <a:gd name="connsiteX2-5" fmla="*/ 74450 w 3419856"/>
              <a:gd name="connsiteY2-6" fmla="*/ 0 h 3429000"/>
              <a:gd name="connsiteX3-7" fmla="*/ 3345406 w 3419856"/>
              <a:gd name="connsiteY3-8" fmla="*/ 0 h 3429000"/>
              <a:gd name="connsiteX4-9" fmla="*/ 3398050 w 3419856"/>
              <a:gd name="connsiteY4-10" fmla="*/ 21806 h 3429000"/>
              <a:gd name="connsiteX5-11" fmla="*/ 3419856 w 3419856"/>
              <a:gd name="connsiteY5-12" fmla="*/ 74450 h 3429000"/>
              <a:gd name="connsiteX6-13" fmla="*/ 3419856 w 3419856"/>
              <a:gd name="connsiteY6-14" fmla="*/ 3354550 h 3429000"/>
              <a:gd name="connsiteX7-15" fmla="*/ 3398050 w 3419856"/>
              <a:gd name="connsiteY7-16" fmla="*/ 3407194 h 3429000"/>
              <a:gd name="connsiteX8-17" fmla="*/ 3345406 w 3419856"/>
              <a:gd name="connsiteY8-18" fmla="*/ 3429000 h 3429000"/>
              <a:gd name="connsiteX9-19" fmla="*/ 21806 w 3419856"/>
              <a:gd name="connsiteY9-20" fmla="*/ 3407194 h 3429000"/>
              <a:gd name="connsiteX10-21" fmla="*/ 0 w 3419856"/>
              <a:gd name="connsiteY10-22" fmla="*/ 3354550 h 3429000"/>
              <a:gd name="connsiteX11-23" fmla="*/ 0 w 3419856"/>
              <a:gd name="connsiteY11-24" fmla="*/ 74450 h 3429000"/>
              <a:gd name="connsiteX0-25" fmla="*/ 0 w 3964392"/>
              <a:gd name="connsiteY0-26" fmla="*/ 74450 h 3415968"/>
              <a:gd name="connsiteX1-27" fmla="*/ 21806 w 3964392"/>
              <a:gd name="connsiteY1-28" fmla="*/ 21806 h 3415968"/>
              <a:gd name="connsiteX2-29" fmla="*/ 74450 w 3964392"/>
              <a:gd name="connsiteY2-30" fmla="*/ 0 h 3415968"/>
              <a:gd name="connsiteX3-31" fmla="*/ 3345406 w 3964392"/>
              <a:gd name="connsiteY3-32" fmla="*/ 0 h 3415968"/>
              <a:gd name="connsiteX4-33" fmla="*/ 3398050 w 3964392"/>
              <a:gd name="connsiteY4-34" fmla="*/ 21806 h 3415968"/>
              <a:gd name="connsiteX5-35" fmla="*/ 3419856 w 3964392"/>
              <a:gd name="connsiteY5-36" fmla="*/ 74450 h 3415968"/>
              <a:gd name="connsiteX6-37" fmla="*/ 3419856 w 3964392"/>
              <a:gd name="connsiteY6-38" fmla="*/ 3354550 h 3415968"/>
              <a:gd name="connsiteX7-39" fmla="*/ 3398050 w 3964392"/>
              <a:gd name="connsiteY7-40" fmla="*/ 3407194 h 3415968"/>
              <a:gd name="connsiteX8-41" fmla="*/ 21806 w 3964392"/>
              <a:gd name="connsiteY8-42" fmla="*/ 3407194 h 3415968"/>
              <a:gd name="connsiteX9-43" fmla="*/ 0 w 3964392"/>
              <a:gd name="connsiteY9-44" fmla="*/ 3354550 h 3415968"/>
              <a:gd name="connsiteX10-45" fmla="*/ 0 w 3964392"/>
              <a:gd name="connsiteY10-46" fmla="*/ 74450 h 3415968"/>
              <a:gd name="connsiteX0-47" fmla="*/ 0 w 3964392"/>
              <a:gd name="connsiteY0-48" fmla="*/ 74450 h 3415968"/>
              <a:gd name="connsiteX1-49" fmla="*/ 21806 w 3964392"/>
              <a:gd name="connsiteY1-50" fmla="*/ 21806 h 3415968"/>
              <a:gd name="connsiteX2-51" fmla="*/ 74450 w 3964392"/>
              <a:gd name="connsiteY2-52" fmla="*/ 0 h 3415968"/>
              <a:gd name="connsiteX3-53" fmla="*/ 3345406 w 3964392"/>
              <a:gd name="connsiteY3-54" fmla="*/ 0 h 3415968"/>
              <a:gd name="connsiteX4-55" fmla="*/ 3398050 w 3964392"/>
              <a:gd name="connsiteY4-56" fmla="*/ 21806 h 3415968"/>
              <a:gd name="connsiteX5-57" fmla="*/ 3419856 w 3964392"/>
              <a:gd name="connsiteY5-58" fmla="*/ 74450 h 3415968"/>
              <a:gd name="connsiteX6-59" fmla="*/ 3419856 w 3964392"/>
              <a:gd name="connsiteY6-60" fmla="*/ 3354550 h 3415968"/>
              <a:gd name="connsiteX7-61" fmla="*/ 3398050 w 3964392"/>
              <a:gd name="connsiteY7-62" fmla="*/ 3407194 h 3415968"/>
              <a:gd name="connsiteX8-63" fmla="*/ 21806 w 3964392"/>
              <a:gd name="connsiteY8-64" fmla="*/ 3407194 h 3415968"/>
              <a:gd name="connsiteX9-65" fmla="*/ 0 w 3964392"/>
              <a:gd name="connsiteY9-66" fmla="*/ 3354550 h 3415968"/>
              <a:gd name="connsiteX10-67" fmla="*/ 0 w 3964392"/>
              <a:gd name="connsiteY10-68" fmla="*/ 74450 h 3415968"/>
              <a:gd name="connsiteX0-69" fmla="*/ 0 w 3968026"/>
              <a:gd name="connsiteY0-70" fmla="*/ 74450 h 3910007"/>
              <a:gd name="connsiteX1-71" fmla="*/ 21806 w 3968026"/>
              <a:gd name="connsiteY1-72" fmla="*/ 21806 h 3910007"/>
              <a:gd name="connsiteX2-73" fmla="*/ 74450 w 3968026"/>
              <a:gd name="connsiteY2-74" fmla="*/ 0 h 3910007"/>
              <a:gd name="connsiteX3-75" fmla="*/ 3345406 w 3968026"/>
              <a:gd name="connsiteY3-76" fmla="*/ 0 h 3910007"/>
              <a:gd name="connsiteX4-77" fmla="*/ 3398050 w 3968026"/>
              <a:gd name="connsiteY4-78" fmla="*/ 21806 h 3910007"/>
              <a:gd name="connsiteX5-79" fmla="*/ 3419856 w 3968026"/>
              <a:gd name="connsiteY5-80" fmla="*/ 74450 h 3910007"/>
              <a:gd name="connsiteX6-81" fmla="*/ 3419856 w 3968026"/>
              <a:gd name="connsiteY6-82" fmla="*/ 3354550 h 3910007"/>
              <a:gd name="connsiteX7-83" fmla="*/ 3398050 w 3968026"/>
              <a:gd name="connsiteY7-84" fmla="*/ 3407194 h 3910007"/>
              <a:gd name="connsiteX8-85" fmla="*/ 0 w 3968026"/>
              <a:gd name="connsiteY8-86" fmla="*/ 3354550 h 3910007"/>
              <a:gd name="connsiteX9-87" fmla="*/ 0 w 3968026"/>
              <a:gd name="connsiteY9-88" fmla="*/ 74450 h 3910007"/>
              <a:gd name="connsiteX0-89" fmla="*/ 0 w 3419856"/>
              <a:gd name="connsiteY0-90" fmla="*/ 74450 h 3901233"/>
              <a:gd name="connsiteX1-91" fmla="*/ 21806 w 3419856"/>
              <a:gd name="connsiteY1-92" fmla="*/ 21806 h 3901233"/>
              <a:gd name="connsiteX2-93" fmla="*/ 74450 w 3419856"/>
              <a:gd name="connsiteY2-94" fmla="*/ 0 h 3901233"/>
              <a:gd name="connsiteX3-95" fmla="*/ 3345406 w 3419856"/>
              <a:gd name="connsiteY3-96" fmla="*/ 0 h 3901233"/>
              <a:gd name="connsiteX4-97" fmla="*/ 3398050 w 3419856"/>
              <a:gd name="connsiteY4-98" fmla="*/ 21806 h 3901233"/>
              <a:gd name="connsiteX5-99" fmla="*/ 3419856 w 3419856"/>
              <a:gd name="connsiteY5-100" fmla="*/ 74450 h 3901233"/>
              <a:gd name="connsiteX6-101" fmla="*/ 3419856 w 3419856"/>
              <a:gd name="connsiteY6-102" fmla="*/ 3354550 h 3901233"/>
              <a:gd name="connsiteX7-103" fmla="*/ 0 w 3419856"/>
              <a:gd name="connsiteY7-104" fmla="*/ 3354550 h 3901233"/>
              <a:gd name="connsiteX8-105" fmla="*/ 0 w 3419856"/>
              <a:gd name="connsiteY8-106" fmla="*/ 74450 h 3901233"/>
              <a:gd name="connsiteX0-107" fmla="*/ 0 w 3419856"/>
              <a:gd name="connsiteY0-108" fmla="*/ 74450 h 3354550"/>
              <a:gd name="connsiteX1-109" fmla="*/ 21806 w 3419856"/>
              <a:gd name="connsiteY1-110" fmla="*/ 21806 h 3354550"/>
              <a:gd name="connsiteX2-111" fmla="*/ 74450 w 3419856"/>
              <a:gd name="connsiteY2-112" fmla="*/ 0 h 3354550"/>
              <a:gd name="connsiteX3-113" fmla="*/ 3345406 w 3419856"/>
              <a:gd name="connsiteY3-114" fmla="*/ 0 h 3354550"/>
              <a:gd name="connsiteX4-115" fmla="*/ 3398050 w 3419856"/>
              <a:gd name="connsiteY4-116" fmla="*/ 21806 h 3354550"/>
              <a:gd name="connsiteX5-117" fmla="*/ 3419856 w 3419856"/>
              <a:gd name="connsiteY5-118" fmla="*/ 74450 h 3354550"/>
              <a:gd name="connsiteX6-119" fmla="*/ 3419856 w 3419856"/>
              <a:gd name="connsiteY6-120" fmla="*/ 3354550 h 3354550"/>
              <a:gd name="connsiteX7-121" fmla="*/ 0 w 3419856"/>
              <a:gd name="connsiteY7-122" fmla="*/ 3354550 h 3354550"/>
              <a:gd name="connsiteX8-123" fmla="*/ 0 w 3419856"/>
              <a:gd name="connsiteY8-124" fmla="*/ 74450 h 33545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547893"/>
            <a:ext cx="39624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791200" y="2199457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5584" y="1026379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1200" y="2199457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6084111" y="1575654"/>
            <a:ext cx="11895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6096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5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791200" y="1042423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1036027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7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45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9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45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9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21216" y="3009908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8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8063257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3492433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7479321" y="4074183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5" y="3429009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9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9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7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9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7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3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5060" y="5052546"/>
            <a:ext cx="7516013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109" y="3132290"/>
            <a:ext cx="9567135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0927" y="2172648"/>
            <a:ext cx="7955555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6584" y="4607511"/>
            <a:ext cx="7960659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523999" y="731519"/>
            <a:ext cx="4462272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731520"/>
            <a:ext cx="4462272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731520"/>
            <a:ext cx="4462272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1929" y="1400327"/>
            <a:ext cx="4462272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403" y="731520"/>
            <a:ext cx="4462272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anose="02040502050405020303" pitchFamily="18" charset="0"/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399032"/>
            <a:ext cx="4462272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794" y="2209801"/>
            <a:ext cx="4848113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4688" y="731520"/>
            <a:ext cx="5356113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4354" y="3497802"/>
            <a:ext cx="4518213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66900" y="1143000"/>
            <a:ext cx="54864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0516" y="1010486"/>
            <a:ext cx="4925485" cy="2163020"/>
          </a:xfrm>
        </p:spPr>
        <p:txBody>
          <a:bodyPr anchor="b"/>
          <a:lstStyle>
            <a:lvl1pPr marL="182880" indent="-182880">
              <a:buFont typeface="Georgia" panose="02040502050405020303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691" y="4464421"/>
            <a:ext cx="8511384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0000" y="731519"/>
            <a:ext cx="85344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8344" y="376518"/>
            <a:ext cx="27432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32151" y="731520"/>
            <a:ext cx="6439049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 panose="05000000000000000000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410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 panose="05000000000000000000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950" indent="-228600" algn="l" rtl="0" eaLnBrk="1" latinLnBrk="0" hangingPunct="1">
        <a:spcBef>
          <a:spcPct val="20000"/>
        </a:spcBef>
        <a:buClr>
          <a:schemeClr val="accent2"/>
        </a:buClr>
        <a:buFont typeface="Wingdings 2" panose="05020102010507070707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745" indent="-228600" algn="l" rtl="0" eaLnBrk="1" latinLnBrk="0" hangingPunct="1">
        <a:spcBef>
          <a:spcPct val="20000"/>
        </a:spcBef>
        <a:buClr>
          <a:schemeClr val="accent3"/>
        </a:buClr>
        <a:buFont typeface="Wingdings 3" panose="05040102010807070707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455" indent="-210185" algn="l" rtl="0" eaLnBrk="1" latinLnBrk="0" hangingPunct="1"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indent="-210185" algn="l" rtl="0" eaLnBrk="1" latinLnBrk="0" hangingPunct="1"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825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4230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3"/>
            <a:ext cx="10566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0" y="6356353"/>
            <a:ext cx="203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356353"/>
            <a:ext cx="132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8A3A827A-826E-4A0B-AEA4-130148450C5D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5"/>
            <a:ext cx="12192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743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40179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71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9CA7F16-7EF7-4BAE-A533-BC5C8B1B0BE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9" y="6250171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2" y="6250170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8A3A827A-826E-4A0B-AEA4-130148450C5D}" type="slidenum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61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12192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1053" y="4372168"/>
            <a:ext cx="8683348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732260"/>
            <a:ext cx="85344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72201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172201"/>
            <a:ext cx="4470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0000" y="6172201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anose="02040502050405020303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001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33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62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2" Type="http://schemas.microsoft.com/office/2007/relationships/hdphoto" Target="../media/image8.wdp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68686" y="763498"/>
            <a:ext cx="1290465" cy="12390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9358" y="330453"/>
            <a:ext cx="11451771" cy="2790489"/>
          </a:xfrm>
        </p:spPr>
        <p:txBody>
          <a:bodyPr anchor="ctr">
            <a:normAutofit fontScale="90000"/>
          </a:bodyPr>
          <a:lstStyle/>
          <a:p>
            <a:pPr marL="182880" indent="0" algn="ctr">
              <a:buNone/>
            </a:pPr>
            <a:br>
              <a:rPr lang="en-US" sz="2700" b="1" dirty="0">
                <a:solidFill>
                  <a:srgbClr val="FF0000"/>
                </a:solidFill>
                <a:effectLst/>
              </a:rPr>
            </a:br>
            <a:r>
              <a:rPr lang="en-US" sz="2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ANNAMACHARYA INSTITUTE OF TECHNOLOGY AND SCIENCES::TIRUPATI</a:t>
            </a:r>
            <a:br>
              <a:rPr lang="en-US" sz="2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  <a:b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solidFill>
                  <a:srgbClr val="FF0000"/>
                </a:solidFill>
                <a:effectLst/>
              </a:rPr>
            </a:br>
            <a:r>
              <a:rPr lang="en-IN" sz="2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IN" sz="2000" dirty="0">
                <a:solidFill>
                  <a:srgbClr val="0033CC"/>
                </a:solidFill>
                <a:effectLst/>
              </a:rPr>
            </a:br>
            <a:r>
              <a:rPr lang="en-IN" sz="2400" dirty="0">
                <a:effectLst/>
                <a:latin typeface="Algerian" pitchFamily="82" charset="0"/>
              </a:rPr>
              <a:t>A.Y.: 2025-2026</a:t>
            </a:r>
            <a:br>
              <a:rPr lang="en-IN" sz="2700" b="1" dirty="0">
                <a:solidFill>
                  <a:schemeClr val="accent1">
                    <a:lumMod val="75000"/>
                  </a:schemeClr>
                </a:solidFill>
                <a:effectLst/>
              </a:rPr>
            </a:br>
            <a:br>
              <a:rPr lang="en-IN" sz="2700" b="1" dirty="0">
                <a:solidFill>
                  <a:schemeClr val="accent1">
                    <a:lumMod val="75000"/>
                  </a:schemeClr>
                </a:solidFill>
                <a:effectLst/>
              </a:rPr>
            </a:br>
            <a:r>
              <a:rPr lang="en-US" sz="31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Text-to-Image Generators in Designing Usability Interfaces for Web Page Construction</a:t>
            </a:r>
            <a:r>
              <a:rPr lang="en-US" sz="31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br>
              <a:rPr lang="en-US" dirty="0">
                <a:effectLst/>
              </a:rPr>
            </a:br>
            <a:br>
              <a:rPr lang="en-IN" sz="2400" dirty="0">
                <a:solidFill>
                  <a:srgbClr val="C00000"/>
                </a:solidFill>
                <a:effectLst/>
                <a:latin typeface="Arial Black" panose="020B0A04020102020204" pitchFamily="34" charset="0"/>
              </a:rPr>
            </a:br>
            <a:endParaRPr lang="en-IN" sz="2400" dirty="0">
              <a:solidFill>
                <a:srgbClr val="C00000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46924" y="4443205"/>
            <a:ext cx="80382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	 </a:t>
            </a:r>
            <a:endParaRPr lang="en-GB" sz="2000" b="1" dirty="0"/>
          </a:p>
          <a:p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AI&amp;DS-2 : Batch No- 11</a:t>
            </a:r>
            <a:endPara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b="1" dirty="0"/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22AK1A3057  		                     NARAYANA VARA PRASAD REDDY Y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22AK1A3065		                     PRABHAS V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22AK1A3074			             </a:t>
            </a:r>
            <a:r>
              <a:rPr lang="en-US" b="1" dirty="0"/>
              <a:t>SALEEM BASHA SHAIK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22AK1A3092			             </a:t>
            </a:r>
            <a:r>
              <a:rPr lang="en-US" b="1" dirty="0"/>
              <a:t>VENKATA ASHISH RAJ K</a:t>
            </a:r>
            <a:endParaRPr lang="en-IN" b="1" dirty="0"/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3310" y="3291480"/>
            <a:ext cx="52379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 </a:t>
            </a:r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dirty="0" err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Ms.K.Gangothri</a:t>
            </a:r>
            <a:r>
              <a:rPr lang="en-GB" sz="2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MCA</a:t>
            </a:r>
            <a:endParaRPr lang="en-GB" sz="20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of AI&amp;DS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AITS, Tirupati                    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b="1" dirty="0"/>
          </a:p>
          <a:p>
            <a:endParaRPr lang="en-IN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200347" y="3167517"/>
            <a:ext cx="477078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b="1" dirty="0">
                <a:solidFill>
                  <a:srgbClr val="FF0000"/>
                </a:solidFill>
              </a:rPr>
              <a:t>     </a:t>
            </a:r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  <a:endParaRPr lang="en-GB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b="1" dirty="0" err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Mrs.B.Rupa</a:t>
            </a:r>
            <a:r>
              <a:rPr lang="en-IN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 Singh, M. Tech (PhD)</a:t>
            </a:r>
            <a:endParaRPr lang="en-IN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Associate Professor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Department of AI&amp;DS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AITS, Tirupati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34558" y="238457"/>
            <a:ext cx="578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89000" y="2537143"/>
            <a:ext cx="11303000" cy="178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images manually requires significant time, effort, and design expertise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without design skills face difficulty in creating visual content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design tools are often complex and time-consuming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generation of customized images is difficult using manual methods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text-to-image generation system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958" y="350217"/>
            <a:ext cx="578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73480" y="1597476"/>
            <a:ext cx="1130300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text-to-image generation system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image creation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user text into meaningful images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image styles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(Realistic, Iconic, Algerian)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effort and time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2186" y="365604"/>
            <a:ext cx="3413968" cy="694354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284234" y="1377352"/>
            <a:ext cx="9292326" cy="4921847"/>
          </a:xfrm>
        </p:spPr>
        <p:txBody>
          <a:bodyPr>
            <a:normAutofit/>
          </a:bodyPr>
          <a:lstStyle/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pretrained Stable Diffusion v1.5 model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images directly from text prompts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styles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(Realistic, Iconic, Algerian)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 image generation through web interface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design effort and time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integrated using Django framework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high-quality images automatically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649" y="142076"/>
            <a:ext cx="8509518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Process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0331" y="1386995"/>
            <a:ext cx="11591338" cy="5153764"/>
          </a:xfrm>
        </p:spPr>
        <p:txBody>
          <a:bodyPr>
            <a:normAutofit fontScale="25000" lnSpcReduction="20000"/>
          </a:bodyPr>
          <a:lstStyle/>
          <a:p>
            <a:pPr marL="45720" indent="0">
              <a:buNone/>
            </a:pPr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Process</a:t>
            </a:r>
            <a:endParaRPr lang="en-IN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endParaRPr lang="en-IN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IN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opens the web application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text prompt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 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image style (Iconic / Alegria / Realistic)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prompt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processes request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generates image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image displayed on UI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download or regenerate image</a:t>
            </a:r>
            <a:endParaRPr lang="en-IN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br>
              <a:rPr lang="en-IN" sz="2300" dirty="0"/>
            </a:br>
            <a:endParaRPr lang="en-IN" sz="2300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14438" y="1386995"/>
            <a:ext cx="4147373" cy="4962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1201272" y="717176"/>
            <a:ext cx="9873130" cy="4688542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397672" cy="785754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ALGORITHMS CONSIDERED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2907" y="538687"/>
            <a:ext cx="10402529" cy="5599471"/>
          </a:xfrm>
        </p:spPr>
        <p:txBody>
          <a:bodyPr>
            <a:noAutofit/>
          </a:bodyPr>
          <a:lstStyle/>
          <a:p>
            <a:pPr marL="45720" indent="0">
              <a:buClr>
                <a:schemeClr val="tx1">
                  <a:lumMod val="75000"/>
                  <a:lumOff val="25000"/>
                </a:schemeClr>
              </a:buClr>
              <a:buNone/>
            </a:pP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Stable Diffusion (Implemented Model)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Stable Diffusion is a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deep learning–based generative model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used for text-to-image generation.</a:t>
            </a:r>
            <a:b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It converts natural language prompts into images using a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diffusion process that transforms random noise into meaningful images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(Used version Stable Diffusion v1.5)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Core Components of the Model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1. CLIP Text Encoder(Contrastive Language–Image Pre-training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Converts input text prompt into numerical embeddings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Provides semantic understanding of the prompt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/>
              </a:buClr>
              <a:buNone/>
            </a:pP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2. </a:t>
            </a:r>
            <a:r>
              <a:rPr lang="en-IN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UNet</a:t>
            </a: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Diffusion Network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Core neural network of the diffusion model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Performs iterative denoising to generate image structure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/>
              </a:buClr>
              <a:buNone/>
            </a:pPr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3. Variational Autoencoder (VAE)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Converts latent representation into final RGB image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Enables efficient image generation in compressed latent space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90462" y="157846"/>
            <a:ext cx="12378813" cy="1278194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Results</a:t>
            </a:r>
            <a:b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16310" y="1002890"/>
            <a:ext cx="11257935" cy="5855110"/>
          </a:xfrm>
        </p:spPr>
        <p:txBody>
          <a:bodyPr>
            <a:normAutofit fontScale="62500" lnSpcReduction="20000"/>
          </a:bodyPr>
          <a:lstStyle/>
          <a:p>
            <a:pPr marL="45720" indent="0"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Results: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successfully generated UI images from text prompts.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images showed good relevance and visual quality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generation time was around 10 minutes per output.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IN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965" y="3088341"/>
            <a:ext cx="8220635" cy="24261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97356" y="536103"/>
            <a:ext cx="3967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6748" y="1231037"/>
            <a:ext cx="1063850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Text-to-Image Generation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Stable Diffusion model.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prompts into meaningful images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diffusion-based generative AI.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interface using Django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 interaction and image visualization.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with a Django web application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images that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closely match the given text prompts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the need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image design in usability interfaces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a practical application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in web development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diffusion-based generative models can automate image creation from text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efficiency and enabling new possibilities in UI development and creative applications.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52476" y="393863"/>
            <a:ext cx="3967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5491" y="1312317"/>
            <a:ext cx="1063850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Enhancements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Additional Image Styles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generate images in more artistic and design styles.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Prompt Engineering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prompt design techniques to generate more accurate and detailed images.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Image Generation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system to generate images faster for real-time applications.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on cloud platforms to improve scalability and accessibility.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Extensions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support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text-to-video or text-to-3D generation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33172" y="2686243"/>
            <a:ext cx="8683348" cy="11430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/>
              <a:t>THANK YOU</a:t>
            </a:r>
            <a:endParaRPr lang="en-IN" sz="4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aveform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AITS</Template>
  <TotalTime>0</TotalTime>
  <Words>4423</Words>
  <Application>WPS Presentation</Application>
  <PresentationFormat>Widescreen</PresentationFormat>
  <Paragraphs>127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11</vt:i4>
      </vt:variant>
    </vt:vector>
  </HeadingPairs>
  <TitlesOfParts>
    <vt:vector size="33" baseType="lpstr">
      <vt:lpstr>Arial</vt:lpstr>
      <vt:lpstr>SimSun</vt:lpstr>
      <vt:lpstr>Wingdings</vt:lpstr>
      <vt:lpstr>Wingdings</vt:lpstr>
      <vt:lpstr>Wingdings 2</vt:lpstr>
      <vt:lpstr>Wingdings 3</vt:lpstr>
      <vt:lpstr>Symbol</vt:lpstr>
      <vt:lpstr>Georgia</vt:lpstr>
      <vt:lpstr>Times New Roman</vt:lpstr>
      <vt:lpstr>Algerian</vt:lpstr>
      <vt:lpstr>Segoe Print</vt:lpstr>
      <vt:lpstr>Arial Black</vt:lpstr>
      <vt:lpstr>Tahoma</vt:lpstr>
      <vt:lpstr>Trebuchet MS</vt:lpstr>
      <vt:lpstr>Microsoft YaHei</vt:lpstr>
      <vt:lpstr>Arial Unicode MS</vt:lpstr>
      <vt:lpstr>Calibri</vt:lpstr>
      <vt:lpstr>Metro</vt:lpstr>
      <vt:lpstr>Horizon</vt:lpstr>
      <vt:lpstr>Civic</vt:lpstr>
      <vt:lpstr>Waveform</vt:lpstr>
      <vt:lpstr>Slipstream</vt:lpstr>
      <vt:lpstr> ANNAMACHARYA INSTITUTE OF TECHNOLOGY AND SCIENCES::TIRUPATI (AUTONOMOUS)  Artificial Intelligence and Data Science A.Y.: 2025-2026  Implementation of Text-to-Image Generators in Designing Usability Interfaces for Web Page Construction                  </vt:lpstr>
      <vt:lpstr>PowerPoint 演示文稿</vt:lpstr>
      <vt:lpstr>PowerPoint 演示文稿</vt:lpstr>
      <vt:lpstr>Proposed System</vt:lpstr>
      <vt:lpstr>Integration Process </vt:lpstr>
      <vt:lpstr>PowerPoint 演示文稿</vt:lpstr>
      <vt:lpstr>ALGORITHMS CONSIDERED </vt:lpstr>
      <vt:lpstr>Performance Results 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sasi kumar</dc:creator>
  <cp:lastModifiedBy>vasagiri prabhas</cp:lastModifiedBy>
  <cp:revision>146</cp:revision>
  <dcterms:created xsi:type="dcterms:W3CDTF">2021-12-20T13:54:00Z</dcterms:created>
  <dcterms:modified xsi:type="dcterms:W3CDTF">2026-03-28T07:49:27Z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AB4489D9FCA441AD9F92038E5BE8816E_12</vt:lpwstr>
  </property>
</Properties>
</file>