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sldIdLst>
    <p:sldId id="256" r:id="rId6"/>
    <p:sldId id="292" r:id="rId7"/>
    <p:sldId id="301" r:id="rId8"/>
    <p:sldId id="303" r:id="rId9"/>
    <p:sldId id="302" r:id="rId10"/>
    <p:sldId id="304" r:id="rId11"/>
    <p:sldId id="297" r:id="rId12"/>
    <p:sldId id="305" r:id="rId13"/>
    <p:sldId id="298" r:id="rId14"/>
    <p:sldId id="307" r:id="rId15"/>
    <p:sldId id="286" r:id="rId16"/>
    <p:sldId id="308" r:id="rId17"/>
    <p:sldId id="260" r:id="rId18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6CCFF"/>
    <a:srgbClr val="0033CC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3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2" y="62"/>
      </p:cViewPr>
      <p:guideLst>
        <p:guide orient="horz" pos="2160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2" name="Rectangle 41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8890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5" name="Rectangle 64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6" name="Rectangle 65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7" name="Rectangle 66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/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Freeform 14"/>
          <p:cNvSpPr/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Freeform 12"/>
          <p:cNvSpPr/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Freeform 15"/>
          <p:cNvSpPr/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Freeform 16"/>
          <p:cNvSpPr/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Freeform 17"/>
          <p:cNvSpPr/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Freeform 18"/>
          <p:cNvSpPr/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Freeform 19"/>
          <p:cNvSpPr/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1" name="Freeform 20"/>
          <p:cNvSpPr/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Freeform 21"/>
          <p:cNvSpPr/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3" name="Freeform 22"/>
          <p:cNvSpPr/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4" name="Freeform 23"/>
          <p:cNvSpPr/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5" name="Freeform 24"/>
          <p:cNvSpPr/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6" name="Freeform 25"/>
          <p:cNvSpPr/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Freeform 26"/>
          <p:cNvSpPr/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6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025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025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61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305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12192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007893"/>
            <a:ext cx="103632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10566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3" y="4962530"/>
            <a:ext cx="10513484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3" y="3462343"/>
            <a:ext cx="10513484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1600200"/>
            <a:ext cx="49784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anose="020B0604020202020204" pitchFamily="34" charset="0"/>
              <a:buChar char="•"/>
              <a:defRPr/>
            </a:lvl6pPr>
            <a:lvl7pPr>
              <a:buClr>
                <a:schemeClr val="tx2"/>
              </a:buClr>
              <a:buFont typeface="Arial" panose="020B0604020202020204" pitchFamily="34" charset="0"/>
              <a:buChar char="•"/>
              <a:defRPr/>
            </a:lvl7pPr>
            <a:lvl8pPr>
              <a:buClr>
                <a:schemeClr val="tx2"/>
              </a:buClr>
              <a:buFont typeface="Arial" panose="020B0604020202020204" pitchFamily="34" charset="0"/>
              <a:buChar char="•"/>
              <a:defRPr/>
            </a:lvl8pPr>
            <a:lvl9pPr>
              <a:buClr>
                <a:schemeClr val="tx2"/>
              </a:buClr>
              <a:buFont typeface="Arial" panose="020B0604020202020204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1600200"/>
            <a:ext cx="49784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209800"/>
            <a:ext cx="49784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1600200"/>
            <a:ext cx="49784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83200" y="1447800"/>
            <a:ext cx="61976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6864" y="2547895"/>
            <a:ext cx="39624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447800"/>
            <a:ext cx="39624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09792" y="1447800"/>
            <a:ext cx="4559808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-1" fmla="*/ 0 w 3419856"/>
              <a:gd name="connsiteY0-2" fmla="*/ 74450 h 3429000"/>
              <a:gd name="connsiteX1-3" fmla="*/ 21806 w 3419856"/>
              <a:gd name="connsiteY1-4" fmla="*/ 21806 h 3429000"/>
              <a:gd name="connsiteX2-5" fmla="*/ 74450 w 3419856"/>
              <a:gd name="connsiteY2-6" fmla="*/ 0 h 3429000"/>
              <a:gd name="connsiteX3-7" fmla="*/ 3345406 w 3419856"/>
              <a:gd name="connsiteY3-8" fmla="*/ 0 h 3429000"/>
              <a:gd name="connsiteX4-9" fmla="*/ 3398050 w 3419856"/>
              <a:gd name="connsiteY4-10" fmla="*/ 21806 h 3429000"/>
              <a:gd name="connsiteX5-11" fmla="*/ 3419856 w 3419856"/>
              <a:gd name="connsiteY5-12" fmla="*/ 74450 h 3429000"/>
              <a:gd name="connsiteX6-13" fmla="*/ 3419856 w 3419856"/>
              <a:gd name="connsiteY6-14" fmla="*/ 3354550 h 3429000"/>
              <a:gd name="connsiteX7-15" fmla="*/ 3398050 w 3419856"/>
              <a:gd name="connsiteY7-16" fmla="*/ 3407194 h 3429000"/>
              <a:gd name="connsiteX8-17" fmla="*/ 3345406 w 3419856"/>
              <a:gd name="connsiteY8-18" fmla="*/ 3429000 h 3429000"/>
              <a:gd name="connsiteX9-19" fmla="*/ 21806 w 3419856"/>
              <a:gd name="connsiteY9-20" fmla="*/ 3407194 h 3429000"/>
              <a:gd name="connsiteX10-21" fmla="*/ 0 w 3419856"/>
              <a:gd name="connsiteY10-22" fmla="*/ 3354550 h 3429000"/>
              <a:gd name="connsiteX11-23" fmla="*/ 0 w 3419856"/>
              <a:gd name="connsiteY11-24" fmla="*/ 74450 h 3429000"/>
              <a:gd name="connsiteX0-25" fmla="*/ 0 w 3964392"/>
              <a:gd name="connsiteY0-26" fmla="*/ 74450 h 3415968"/>
              <a:gd name="connsiteX1-27" fmla="*/ 21806 w 3964392"/>
              <a:gd name="connsiteY1-28" fmla="*/ 21806 h 3415968"/>
              <a:gd name="connsiteX2-29" fmla="*/ 74450 w 3964392"/>
              <a:gd name="connsiteY2-30" fmla="*/ 0 h 3415968"/>
              <a:gd name="connsiteX3-31" fmla="*/ 3345406 w 3964392"/>
              <a:gd name="connsiteY3-32" fmla="*/ 0 h 3415968"/>
              <a:gd name="connsiteX4-33" fmla="*/ 3398050 w 3964392"/>
              <a:gd name="connsiteY4-34" fmla="*/ 21806 h 3415968"/>
              <a:gd name="connsiteX5-35" fmla="*/ 3419856 w 3964392"/>
              <a:gd name="connsiteY5-36" fmla="*/ 74450 h 3415968"/>
              <a:gd name="connsiteX6-37" fmla="*/ 3419856 w 3964392"/>
              <a:gd name="connsiteY6-38" fmla="*/ 3354550 h 3415968"/>
              <a:gd name="connsiteX7-39" fmla="*/ 3398050 w 3964392"/>
              <a:gd name="connsiteY7-40" fmla="*/ 3407194 h 3415968"/>
              <a:gd name="connsiteX8-41" fmla="*/ 21806 w 3964392"/>
              <a:gd name="connsiteY8-42" fmla="*/ 3407194 h 3415968"/>
              <a:gd name="connsiteX9-43" fmla="*/ 0 w 3964392"/>
              <a:gd name="connsiteY9-44" fmla="*/ 3354550 h 3415968"/>
              <a:gd name="connsiteX10-45" fmla="*/ 0 w 3964392"/>
              <a:gd name="connsiteY10-46" fmla="*/ 74450 h 3415968"/>
              <a:gd name="connsiteX0-47" fmla="*/ 0 w 3964392"/>
              <a:gd name="connsiteY0-48" fmla="*/ 74450 h 3415968"/>
              <a:gd name="connsiteX1-49" fmla="*/ 21806 w 3964392"/>
              <a:gd name="connsiteY1-50" fmla="*/ 21806 h 3415968"/>
              <a:gd name="connsiteX2-51" fmla="*/ 74450 w 3964392"/>
              <a:gd name="connsiteY2-52" fmla="*/ 0 h 3415968"/>
              <a:gd name="connsiteX3-53" fmla="*/ 3345406 w 3964392"/>
              <a:gd name="connsiteY3-54" fmla="*/ 0 h 3415968"/>
              <a:gd name="connsiteX4-55" fmla="*/ 3398050 w 3964392"/>
              <a:gd name="connsiteY4-56" fmla="*/ 21806 h 3415968"/>
              <a:gd name="connsiteX5-57" fmla="*/ 3419856 w 3964392"/>
              <a:gd name="connsiteY5-58" fmla="*/ 74450 h 3415968"/>
              <a:gd name="connsiteX6-59" fmla="*/ 3419856 w 3964392"/>
              <a:gd name="connsiteY6-60" fmla="*/ 3354550 h 3415968"/>
              <a:gd name="connsiteX7-61" fmla="*/ 3398050 w 3964392"/>
              <a:gd name="connsiteY7-62" fmla="*/ 3407194 h 3415968"/>
              <a:gd name="connsiteX8-63" fmla="*/ 21806 w 3964392"/>
              <a:gd name="connsiteY8-64" fmla="*/ 3407194 h 3415968"/>
              <a:gd name="connsiteX9-65" fmla="*/ 0 w 3964392"/>
              <a:gd name="connsiteY9-66" fmla="*/ 3354550 h 3415968"/>
              <a:gd name="connsiteX10-67" fmla="*/ 0 w 3964392"/>
              <a:gd name="connsiteY10-68" fmla="*/ 74450 h 3415968"/>
              <a:gd name="connsiteX0-69" fmla="*/ 0 w 3968026"/>
              <a:gd name="connsiteY0-70" fmla="*/ 74450 h 3910007"/>
              <a:gd name="connsiteX1-71" fmla="*/ 21806 w 3968026"/>
              <a:gd name="connsiteY1-72" fmla="*/ 21806 h 3910007"/>
              <a:gd name="connsiteX2-73" fmla="*/ 74450 w 3968026"/>
              <a:gd name="connsiteY2-74" fmla="*/ 0 h 3910007"/>
              <a:gd name="connsiteX3-75" fmla="*/ 3345406 w 3968026"/>
              <a:gd name="connsiteY3-76" fmla="*/ 0 h 3910007"/>
              <a:gd name="connsiteX4-77" fmla="*/ 3398050 w 3968026"/>
              <a:gd name="connsiteY4-78" fmla="*/ 21806 h 3910007"/>
              <a:gd name="connsiteX5-79" fmla="*/ 3419856 w 3968026"/>
              <a:gd name="connsiteY5-80" fmla="*/ 74450 h 3910007"/>
              <a:gd name="connsiteX6-81" fmla="*/ 3419856 w 3968026"/>
              <a:gd name="connsiteY6-82" fmla="*/ 3354550 h 3910007"/>
              <a:gd name="connsiteX7-83" fmla="*/ 3398050 w 3968026"/>
              <a:gd name="connsiteY7-84" fmla="*/ 3407194 h 3910007"/>
              <a:gd name="connsiteX8-85" fmla="*/ 0 w 3968026"/>
              <a:gd name="connsiteY8-86" fmla="*/ 3354550 h 3910007"/>
              <a:gd name="connsiteX9-87" fmla="*/ 0 w 3968026"/>
              <a:gd name="connsiteY9-88" fmla="*/ 74450 h 3910007"/>
              <a:gd name="connsiteX0-89" fmla="*/ 0 w 3419856"/>
              <a:gd name="connsiteY0-90" fmla="*/ 74450 h 3901233"/>
              <a:gd name="connsiteX1-91" fmla="*/ 21806 w 3419856"/>
              <a:gd name="connsiteY1-92" fmla="*/ 21806 h 3901233"/>
              <a:gd name="connsiteX2-93" fmla="*/ 74450 w 3419856"/>
              <a:gd name="connsiteY2-94" fmla="*/ 0 h 3901233"/>
              <a:gd name="connsiteX3-95" fmla="*/ 3345406 w 3419856"/>
              <a:gd name="connsiteY3-96" fmla="*/ 0 h 3901233"/>
              <a:gd name="connsiteX4-97" fmla="*/ 3398050 w 3419856"/>
              <a:gd name="connsiteY4-98" fmla="*/ 21806 h 3901233"/>
              <a:gd name="connsiteX5-99" fmla="*/ 3419856 w 3419856"/>
              <a:gd name="connsiteY5-100" fmla="*/ 74450 h 3901233"/>
              <a:gd name="connsiteX6-101" fmla="*/ 3419856 w 3419856"/>
              <a:gd name="connsiteY6-102" fmla="*/ 3354550 h 3901233"/>
              <a:gd name="connsiteX7-103" fmla="*/ 0 w 3419856"/>
              <a:gd name="connsiteY7-104" fmla="*/ 3354550 h 3901233"/>
              <a:gd name="connsiteX8-105" fmla="*/ 0 w 3419856"/>
              <a:gd name="connsiteY8-106" fmla="*/ 74450 h 3901233"/>
              <a:gd name="connsiteX0-107" fmla="*/ 0 w 3419856"/>
              <a:gd name="connsiteY0-108" fmla="*/ 74450 h 3354550"/>
              <a:gd name="connsiteX1-109" fmla="*/ 21806 w 3419856"/>
              <a:gd name="connsiteY1-110" fmla="*/ 21806 h 3354550"/>
              <a:gd name="connsiteX2-111" fmla="*/ 74450 w 3419856"/>
              <a:gd name="connsiteY2-112" fmla="*/ 0 h 3354550"/>
              <a:gd name="connsiteX3-113" fmla="*/ 3345406 w 3419856"/>
              <a:gd name="connsiteY3-114" fmla="*/ 0 h 3354550"/>
              <a:gd name="connsiteX4-115" fmla="*/ 3398050 w 3419856"/>
              <a:gd name="connsiteY4-116" fmla="*/ 21806 h 3354550"/>
              <a:gd name="connsiteX5-117" fmla="*/ 3419856 w 3419856"/>
              <a:gd name="connsiteY5-118" fmla="*/ 74450 h 3354550"/>
              <a:gd name="connsiteX6-119" fmla="*/ 3419856 w 3419856"/>
              <a:gd name="connsiteY6-120" fmla="*/ 3354550 h 3354550"/>
              <a:gd name="connsiteX7-121" fmla="*/ 0 w 3419856"/>
              <a:gd name="connsiteY7-122" fmla="*/ 3354550 h 3354550"/>
              <a:gd name="connsiteX8-123" fmla="*/ 0 w 3419856"/>
              <a:gd name="connsiteY8-124" fmla="*/ 74450 h 33545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547893"/>
            <a:ext cx="39624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9457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5584" y="1026379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Oval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9457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11" y="1575654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5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Oval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423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027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7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9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63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Oval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1216" y="3009908"/>
            <a:ext cx="609600" cy="441325"/>
          </a:xfrm>
        </p:spPr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8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 useBgFill="1">
          <p:nvSpPr>
            <p:cNvPr id="15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14"/>
          <p:cNvSpPr/>
          <p:nvPr/>
        </p:nvSpPr>
        <p:spPr bwMode="hidden">
          <a:xfrm>
            <a:off x="8063257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0" name="Freeform 18"/>
          <p:cNvSpPr/>
          <p:nvPr/>
        </p:nvSpPr>
        <p:spPr bwMode="hidden">
          <a:xfrm>
            <a:off x="3492433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1" name="Freeform 22"/>
          <p:cNvSpPr/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12" name="Freeform 26"/>
          <p:cNvSpPr/>
          <p:nvPr/>
        </p:nvSpPr>
        <p:spPr bwMode="hidden">
          <a:xfrm>
            <a:off x="7479321" y="4074183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 useBgFill="1">
        <p:nvSpPr>
          <p:cNvPr id="13" name="Freeform 10"/>
          <p:cNvSpPr/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5" y="3429009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9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 useBgFill="1">
          <p:nvSpPr>
            <p:cNvPr id="1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9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 useBgFill="1">
          <p:nvSpPr>
            <p:cNvPr id="29" name="Freeform 28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7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 useBgFill="1">
          <p:nvSpPr>
            <p:cNvPr id="14" name="Freeform 10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9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7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 useBgFill="1">
          <p:nvSpPr>
            <p:cNvPr id="20" name="Freeform 19"/>
            <p:cNvSpPr/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3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5060" y="5052546"/>
            <a:ext cx="7516013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109" y="3132290"/>
            <a:ext cx="9567135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27" y="2172648"/>
            <a:ext cx="7955555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84" y="4607511"/>
            <a:ext cx="7960659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23999" y="731519"/>
            <a:ext cx="4462272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731520"/>
            <a:ext cx="4462272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1929" y="1400327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403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anose="02040502050405020303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399032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794" y="2209801"/>
            <a:ext cx="4848113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688" y="731520"/>
            <a:ext cx="5356113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4354" y="3497802"/>
            <a:ext cx="4518213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66900" y="1143000"/>
            <a:ext cx="54864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0516" y="1010486"/>
            <a:ext cx="4925485" cy="2163020"/>
          </a:xfrm>
        </p:spPr>
        <p:txBody>
          <a:bodyPr anchor="b"/>
          <a:lstStyle>
            <a:lvl1pPr marL="182880" indent="-182880">
              <a:buFont typeface="Georgia" panose="02040502050405020303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91" y="4464421"/>
            <a:ext cx="8511384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0000" y="731519"/>
            <a:ext cx="85344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8344" y="376518"/>
            <a:ext cx="27432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32151" y="731520"/>
            <a:ext cx="6439049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 panose="05000000000000000000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410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 panose="05000000000000000000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950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745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455" indent="-210185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indent="-210185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825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23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5664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600203"/>
            <a:ext cx="10566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0" y="6356353"/>
            <a:ext cx="203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356353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5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Oval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40179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/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22"/>
            <p:cNvSpPr/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26"/>
            <p:cNvSpPr/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 useBgFill="1">
          <p:nvSpPr>
            <p:cNvPr id="21" name="Freeform 10"/>
            <p:cNvSpPr/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71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9CA7F16-7EF7-4BAE-A533-BC5C8B1B0BE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9" y="6250171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2" y="6250170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8A3A827A-826E-4A0B-AEA4-130148450C5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61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1053" y="4372168"/>
            <a:ext cx="8683348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2260"/>
            <a:ext cx="85344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72201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172201"/>
            <a:ext cx="4470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0" y="6172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anose="02040502050405020303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001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33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62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516743" y="876925"/>
            <a:ext cx="1219200" cy="11328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894" y="220725"/>
            <a:ext cx="11451771" cy="2790489"/>
          </a:xfrm>
        </p:spPr>
        <p:txBody>
          <a:bodyPr>
            <a:normAutofit fontScale="90000"/>
          </a:bodyPr>
          <a:lstStyle/>
          <a:p>
            <a:pPr marL="182880" indent="0" algn="ctr">
              <a:buNone/>
            </a:pPr>
            <a:r>
              <a:rPr lang="en-US" sz="2700" b="1" dirty="0">
                <a:solidFill>
                  <a:srgbClr val="FF0000"/>
                </a:solidFill>
                <a:effectLst/>
              </a:rPr>
              <a:t>ANNAMACHARYA INSTITUTE OF TECHNOLOGY AND SCIENCES::TIRUPATI</a:t>
            </a:r>
            <a:br>
              <a:rPr lang="en-US" sz="2700" b="1" dirty="0">
                <a:solidFill>
                  <a:srgbClr val="FF0000"/>
                </a:solidFill>
                <a:effectLst/>
              </a:rPr>
            </a:br>
            <a:r>
              <a:rPr lang="en-IN" sz="2000" b="1" dirty="0">
                <a:solidFill>
                  <a:srgbClr val="FF0000"/>
                </a:solidFill>
                <a:effectLst/>
              </a:rPr>
              <a:t>(AUTONOMOUS)</a:t>
            </a:r>
            <a:br>
              <a:rPr lang="en-IN" sz="2000" b="1" dirty="0">
                <a:solidFill>
                  <a:srgbClr val="FF0000"/>
                </a:solidFill>
                <a:effectLst/>
              </a:rPr>
            </a:br>
            <a:r>
              <a:rPr lang="en-IN" sz="2400" b="1" dirty="0">
                <a:solidFill>
                  <a:srgbClr val="0033CC"/>
                </a:solidFill>
                <a:effectLst/>
              </a:rPr>
              <a:t>Artificial Intelligence &amp; Data Science</a:t>
            </a:r>
            <a:br>
              <a:rPr lang="en-IN" sz="2000" dirty="0">
                <a:solidFill>
                  <a:srgbClr val="0033CC"/>
                </a:solidFill>
                <a:effectLst/>
              </a:rPr>
            </a:br>
            <a:r>
              <a:rPr lang="en-IN" sz="2400" dirty="0">
                <a:effectLst/>
                <a:latin typeface="Algerian" pitchFamily="82" charset="0"/>
              </a:rPr>
              <a:t>A.Y.: 2025-2026</a:t>
            </a:r>
            <a:br>
              <a:rPr lang="en-IN" sz="2700" b="1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r>
              <a:rPr lang="en-IN" sz="2700" b="1" dirty="0">
                <a:solidFill>
                  <a:schemeClr val="accent1">
                    <a:lumMod val="75000"/>
                  </a:schemeClr>
                </a:solidFill>
                <a:effectLst/>
              </a:rPr>
              <a:t>SECOND REVIEW</a:t>
            </a:r>
            <a:br>
              <a:rPr lang="en-IN" sz="2700" b="1" dirty="0">
                <a:solidFill>
                  <a:schemeClr val="accent1">
                    <a:lumMod val="75000"/>
                  </a:schemeClr>
                </a:solidFill>
                <a:effectLst/>
              </a:rPr>
            </a:br>
            <a:br>
              <a:rPr lang="en-IN" sz="2000" dirty="0">
                <a:effectLst/>
              </a:rPr>
            </a:br>
            <a:r>
              <a:rPr lang="en-GB" sz="2400" dirty="0">
                <a:solidFill>
                  <a:srgbClr val="C00000"/>
                </a:solidFill>
                <a:effectLst/>
                <a:latin typeface="Arial Black" panose="020B0A04020102020204" pitchFamily="34" charset="0"/>
              </a:rPr>
              <a:t> A Text-to-image Generators in the Development of the Usability Interface</a:t>
            </a:r>
            <a:endParaRPr lang="en-IN" sz="2400" dirty="0"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05836" y="4636727"/>
            <a:ext cx="708917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			</a:t>
            </a:r>
            <a:r>
              <a:rPr lang="en-GB" sz="2400" b="1" dirty="0">
                <a:solidFill>
                  <a:srgbClr val="660033"/>
                </a:solidFill>
              </a:rPr>
              <a:t>BATCH NO: 11</a:t>
            </a:r>
          </a:p>
          <a:p>
            <a:endParaRPr lang="en-GB" sz="2000" b="1" dirty="0"/>
          </a:p>
          <a:p>
            <a:pPr algn="just"/>
            <a:r>
              <a:rPr lang="en-US" sz="2000" b="1" dirty="0"/>
              <a:t>22AK1A3057 		            Y. Narayana Vara Prasad Reddy</a:t>
            </a:r>
          </a:p>
          <a:p>
            <a:pPr algn="just"/>
            <a:r>
              <a:rPr lang="en-US" sz="2000" b="1" dirty="0"/>
              <a:t>22AK1A3065		            V. Prabhas</a:t>
            </a:r>
          </a:p>
          <a:p>
            <a:r>
              <a:rPr lang="en-US" sz="2000" b="1" dirty="0"/>
              <a:t>22AK1A3074			      S. Saleem Basha</a:t>
            </a:r>
          </a:p>
          <a:p>
            <a:r>
              <a:rPr lang="en-US" sz="2000" b="1" dirty="0"/>
              <a:t>22AK1A3092                      k. Venkata Ashish Raj </a:t>
            </a:r>
            <a:endParaRPr lang="en-IN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05012" y="3005511"/>
            <a:ext cx="49949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Under the Guidance of</a:t>
            </a:r>
          </a:p>
          <a:p>
            <a:r>
              <a:rPr lang="en-GB" sz="2000" b="1" dirty="0" err="1">
                <a:solidFill>
                  <a:srgbClr val="0033CC"/>
                </a:solidFill>
              </a:rPr>
              <a:t>Ms.K.Gangothri</a:t>
            </a:r>
            <a:r>
              <a:rPr lang="en-GB" sz="2000" b="1" dirty="0">
                <a:solidFill>
                  <a:srgbClr val="0033CC"/>
                </a:solidFill>
              </a:rPr>
              <a:t> , MCA</a:t>
            </a:r>
          </a:p>
          <a:p>
            <a:r>
              <a:rPr lang="en-GB" sz="2000" b="1" dirty="0"/>
              <a:t>Assistant Professor</a:t>
            </a:r>
          </a:p>
          <a:p>
            <a:r>
              <a:rPr lang="en-GB" sz="2000" b="1" dirty="0"/>
              <a:t>Department of AI&amp;DS</a:t>
            </a:r>
          </a:p>
          <a:p>
            <a:r>
              <a:rPr lang="en-GB" sz="2000" b="1" dirty="0"/>
              <a:t>AITS, Tirupati</a:t>
            </a:r>
            <a:endParaRPr lang="en-IN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485876" y="3011214"/>
            <a:ext cx="52997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Head of the Department</a:t>
            </a:r>
          </a:p>
          <a:p>
            <a:r>
              <a:rPr lang="en-GB" sz="2000" b="1" dirty="0">
                <a:solidFill>
                  <a:srgbClr val="0033CC"/>
                </a:solidFill>
              </a:rPr>
              <a:t>Ms. B. Rupa Devi Singh, </a:t>
            </a:r>
            <a:r>
              <a:rPr lang="en-GB" sz="2000" b="1" dirty="0" err="1">
                <a:solidFill>
                  <a:srgbClr val="0033CC"/>
                </a:solidFill>
              </a:rPr>
              <a:t>M.Tech</a:t>
            </a:r>
            <a:r>
              <a:rPr lang="en-GB" sz="2000" b="1" dirty="0">
                <a:solidFill>
                  <a:srgbClr val="0033CC"/>
                </a:solidFill>
              </a:rPr>
              <a:t>., (</a:t>
            </a:r>
            <a:r>
              <a:rPr lang="en-GB" sz="2000" b="1" dirty="0" err="1">
                <a:solidFill>
                  <a:srgbClr val="0033CC"/>
                </a:solidFill>
              </a:rPr>
              <a:t>Ph.D</a:t>
            </a:r>
            <a:r>
              <a:rPr lang="en-GB" sz="2000" b="1" dirty="0">
                <a:solidFill>
                  <a:srgbClr val="0033CC"/>
                </a:solidFill>
              </a:rPr>
              <a:t>) </a:t>
            </a:r>
            <a:r>
              <a:rPr lang="en-GB" sz="2000" b="1" dirty="0"/>
              <a:t>Associate Professor</a:t>
            </a:r>
          </a:p>
          <a:p>
            <a:r>
              <a:rPr lang="en-GB" sz="2000" b="1" dirty="0"/>
              <a:t>Department of AI&amp;DS</a:t>
            </a:r>
          </a:p>
          <a:p>
            <a:r>
              <a:rPr lang="en-GB" sz="2000" b="1" dirty="0"/>
              <a:t>AITS, Tirupati</a:t>
            </a:r>
            <a:endParaRPr lang="en-IN" sz="2000" b="1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98ED-2A4F-AB9E-84AB-D222BC0E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8" y="240613"/>
            <a:ext cx="8014995" cy="785754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6C6A7-ED18-AA71-8D63-C479B3E1AD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5627" y="1026367"/>
            <a:ext cx="10402529" cy="559947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pPr>
              <a:buClr>
                <a:schemeClr val="tx1">
                  <a:lumMod val="75000"/>
                  <a:lumOff val="2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(Implemented Model)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is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learning–based generative model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text-to-image generation.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natural language prompts into images using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process that transforms random noise into meaningful images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(Used version Stable Diffusion v1.5)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 of the Model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CLIP Text Encoder(Contrastive Language–Image Pre-training</a:t>
            </a:r>
            <a:r>
              <a:rPr lang="en-IN" sz="1800" dirty="0"/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input text prompt into numerical embeddings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semantic understanding of the prompt</a:t>
            </a:r>
          </a:p>
          <a:p>
            <a:pPr marL="45720" indent="0">
              <a:buClr>
                <a:schemeClr val="tx1"/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Diffusion Network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neural network of the diffusion model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iterative denoising to generate image structure</a:t>
            </a:r>
          </a:p>
          <a:p>
            <a:pPr marL="45720" indent="0">
              <a:buClr>
                <a:schemeClr val="tx1"/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Variational Autoencoder (VAE)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latent representation into final RGB image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image generation in compressed latent space</a:t>
            </a: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IN" dirty="0"/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019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A23D-4121-54A5-BA7E-B079F280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01964" y="301613"/>
            <a:ext cx="10838427" cy="1143000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Justification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A4027-60C0-3234-A770-DB2531BAFA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094" y="1444613"/>
            <a:ext cx="11063361" cy="4864747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Model:</a:t>
            </a:r>
          </a:p>
          <a:p>
            <a:pPr marL="4572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v1.5</a:t>
            </a:r>
          </a:p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Stable Diffusion Was Selected</a:t>
            </a:r>
          </a:p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 Image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and realistic images from text prompts.</a:t>
            </a:r>
          </a:p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Stable Generation Process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models are more stable compared to GAN training.</a:t>
            </a:r>
          </a:p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Efficient Latent Diffusion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latent space, reducing computational cost.</a:t>
            </a:r>
          </a:p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Pretrained Model Availability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models are available through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Easy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Python frameworks like </a:t>
            </a:r>
            <a:r>
              <a:rPr lang="en-US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Diffusers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81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FAAC2-D850-AA06-8F46-82CB5D43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91B6-6479-3ABD-3691-B51B949F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01964" y="301613"/>
            <a:ext cx="10838427" cy="1143000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09B6-2E14-7A67-7DD8-24A8D63107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094" y="1444613"/>
            <a:ext cx="11063361" cy="4864747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Used in Image Generation</a:t>
            </a:r>
          </a:p>
          <a:p>
            <a:pPr marL="4572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control how the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model generates images from text prompts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tuning improves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quality, prompt accuracy, and generation stability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Number of Inference Steps</a:t>
            </a:r>
          </a:p>
          <a:p>
            <a:pPr marL="45720" indent="0">
              <a:buNone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num_inference_steps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45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how many denoising steps are used during the diffusion process.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steps → better image quality but slower generation.</a:t>
            </a:r>
          </a:p>
          <a:p>
            <a:pPr marL="45720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Guidance Scale</a:t>
            </a:r>
          </a:p>
          <a:p>
            <a:pPr marL="45720" indent="0">
              <a:buNone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guidance_scale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8.5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how strongly the model follows the text prompt.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value improves prompt accuracy.</a:t>
            </a:r>
          </a:p>
          <a:p>
            <a:pPr marL="45720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Prompt Structure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prompt used in the system: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 modern house icon, clean vector illustration, minimal color palette"</a:t>
            </a:r>
          </a:p>
          <a:p>
            <a:pPr marL="45720" indent="0"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 prompts improve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consistency and image relevance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08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BD606-F91F-F2DA-9ACF-1120D9573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AAEB-916E-4231-F892-1AFB1FD3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0462" y="157846"/>
            <a:ext cx="12378813" cy="1278194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</a:t>
            </a:r>
            <a:b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7283A-9D34-D59A-43E4-CCC87FD584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6310" y="1002890"/>
            <a:ext cx="11257935" cy="5855110"/>
          </a:xfrm>
        </p:spPr>
        <p:txBody>
          <a:bodyPr>
            <a:normAutofit fontScale="62500" lnSpcReduction="20000"/>
          </a:bodyPr>
          <a:lstStyle/>
          <a:p>
            <a:pPr marL="4572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Results: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successfully generated UI images from text prompts.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images showed good relevance and visual quality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consistency was achieved after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DreamBooth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fine-tuning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generation time was around 10 minutes per output.</a:t>
            </a: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82132-0113-D94A-142C-E09F1E32A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65" y="3088341"/>
            <a:ext cx="8220635" cy="242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42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AF00-CE22-DAC0-B706-27E4EE97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DEBC-56E0-134A-F1F1-B504A41778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87325" y="157163"/>
            <a:ext cx="12379325" cy="1279525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97412-567C-A43E-219C-17DDCF1883C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1003300"/>
            <a:ext cx="11258550" cy="5854700"/>
          </a:xfrm>
        </p:spPr>
        <p:txBody>
          <a:bodyPr>
            <a:normAutofit fontScale="25000" lnSpcReduction="20000"/>
          </a:bodyPr>
          <a:lstStyle/>
          <a:p>
            <a:pPr marL="45720" indent="0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Clr>
                <a:schemeClr val="tx1">
                  <a:lumMod val="95000"/>
                  <a:lumOff val="5000"/>
                </a:schemeClr>
              </a:buCl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0" b="1" dirty="0"/>
          </a:p>
          <a:p>
            <a:endParaRPr lang="en-US" sz="8000" b="1" dirty="0"/>
          </a:p>
          <a:p>
            <a:endParaRPr lang="en-US" sz="8000" b="1" dirty="0"/>
          </a:p>
          <a:p>
            <a:endParaRPr lang="en-US" sz="8000" b="1" dirty="0"/>
          </a:p>
          <a:p>
            <a:endParaRPr lang="en-US" sz="8000" b="1" dirty="0"/>
          </a:p>
          <a:p>
            <a:endParaRPr lang="en-US" sz="8000" b="1" dirty="0"/>
          </a:p>
          <a:p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Stable Diffusion Performs Better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diffusion architecture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computational cost.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and detailed images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text prompts.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generation process compared to GAN models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integrated with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web frameworks like Django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b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4C7772-AA83-2A2D-3FE2-66A2A17A7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0794"/>
              </p:ext>
            </p:extLst>
          </p:nvPr>
        </p:nvGraphicFramePr>
        <p:xfrm>
          <a:off x="717755" y="1039038"/>
          <a:ext cx="9635553" cy="3107981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407029">
                  <a:extLst>
                    <a:ext uri="{9D8B030D-6E8A-4147-A177-3AD203B41FA5}">
                      <a16:colId xmlns:a16="http://schemas.microsoft.com/office/drawing/2014/main" val="3093077367"/>
                    </a:ext>
                  </a:extLst>
                </a:gridCol>
                <a:gridCol w="3114262">
                  <a:extLst>
                    <a:ext uri="{9D8B030D-6E8A-4147-A177-3AD203B41FA5}">
                      <a16:colId xmlns:a16="http://schemas.microsoft.com/office/drawing/2014/main" val="1126519026"/>
                    </a:ext>
                  </a:extLst>
                </a:gridCol>
                <a:gridCol w="3114262">
                  <a:extLst>
                    <a:ext uri="{9D8B030D-6E8A-4147-A177-3AD203B41FA5}">
                      <a16:colId xmlns:a16="http://schemas.microsoft.com/office/drawing/2014/main" val="540005785"/>
                    </a:ext>
                  </a:extLst>
                </a:gridCol>
              </a:tblGrid>
              <a:tr h="338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541993"/>
                  </a:ext>
                </a:extLst>
              </a:tr>
              <a:tr h="575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Design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control over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 and requires design skills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94909"/>
                  </a:ext>
                </a:extLst>
              </a:tr>
              <a:tr h="575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GAN-based Models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generate realistic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instability and mode collapse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6506949"/>
                  </a:ext>
                </a:extLst>
              </a:tr>
              <a:tr h="575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DALL·E (Transformer)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Powerful multimodal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open access and high computational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848184"/>
                  </a:ext>
                </a:extLst>
              </a:tr>
              <a:tr h="82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Diffusion (Proposed)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High-quality images, efficient latent diffusion, open-source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GPU for faster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632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70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99EB-6C22-7B16-A675-AE9E61B1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82" y="219998"/>
            <a:ext cx="9858034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80A15-98D1-7F40-C105-018D4CB4A1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582" y="1196577"/>
            <a:ext cx="10315234" cy="530204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:</a:t>
            </a: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pretrained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loaded using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Diffusers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weights are initialized during system startup to enable efficient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text-to-image inference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Framework:</a:t>
            </a: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is deployed as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Django-based web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handles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requests, prompt processing, and communication with the AI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 :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 – Django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text prompts and sends them to the Stable Diffusion model.</a:t>
            </a: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server-side logic and displays generated images on the web interface.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– Stable Diffusion (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Diffusion-based generative model that converts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prompts into images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Diffusers library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34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95E3-4C99-527F-0345-7B270AB1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BAFE-F655-5024-E41F-99346D13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82" y="219998"/>
            <a:ext cx="9858034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3CAA-6FDD-43DF-BBC0-34430E512B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582" y="1196577"/>
            <a:ext cx="10315234" cy="530204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Environment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in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GPU-enabled environment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accelerate the image generation process.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Implements the AI pipeline and model inference.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server operations, routing, and model integration.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the structure of web pages.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styling and layout.</a:t>
            </a:r>
          </a:p>
          <a:p>
            <a:pPr marL="4572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dynamic interaction and image display.</a:t>
            </a:r>
          </a:p>
          <a:p>
            <a:pPr marL="4572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1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6C6E-0D8F-D2AE-FD00-CAB522DF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142076"/>
            <a:ext cx="8509518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Process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7F54-78BC-2B32-4AA3-CCF08D132A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0331" y="1386995"/>
            <a:ext cx="11591338" cy="5153764"/>
          </a:xfrm>
        </p:spPr>
        <p:txBody>
          <a:bodyPr>
            <a:normAutofit fontScale="40000" lnSpcReduction="20000"/>
          </a:bodyPr>
          <a:lstStyle/>
          <a:p>
            <a:pPr marL="45720" indent="0">
              <a:buNone/>
            </a:pP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Process</a:t>
            </a: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" indent="0">
              <a:buNone/>
            </a:pPr>
            <a:endParaRPr lang="en-IN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buNone/>
            </a:pP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web application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text prompt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 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image style (Iconic / Alegria / Realistic)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prompt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request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generates image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image displayed on UI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⬇</a:t>
            </a:r>
            <a:b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download or regenerate image</a:t>
            </a:r>
          </a:p>
          <a:p>
            <a:pPr marL="45720" indent="0">
              <a:buNone/>
            </a:pPr>
            <a:br>
              <a:rPr lang="en-IN" sz="2300" dirty="0"/>
            </a:br>
            <a:endParaRPr lang="en-IN" sz="23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767EB-7601-5B33-402C-75A6AF0BF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14438" y="1386995"/>
            <a:ext cx="4147373" cy="49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35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3149-60DD-58EC-1A0E-A3DD303B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626189-77B0-06E3-3BB6-42D60D3045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1272" y="717176"/>
            <a:ext cx="9873130" cy="4688542"/>
          </a:xfrm>
        </p:spPr>
      </p:pic>
    </p:spTree>
    <p:extLst>
      <p:ext uri="{BB962C8B-B14F-4D97-AF65-F5344CB8AC3E}">
        <p14:creationId xmlns:p14="http://schemas.microsoft.com/office/powerpoint/2010/main" val="3998970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BA3080-905D-1249-8622-B41C570E3494}"/>
              </a:ext>
            </a:extLst>
          </p:cNvPr>
          <p:cNvSpPr txBox="1"/>
          <p:nvPr/>
        </p:nvSpPr>
        <p:spPr>
          <a:xfrm>
            <a:off x="4497356" y="536103"/>
            <a:ext cx="3967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797855-F7BA-7824-0C5E-AE80D7E98351}"/>
              </a:ext>
            </a:extLst>
          </p:cNvPr>
          <p:cNvSpPr txBox="1"/>
          <p:nvPr/>
        </p:nvSpPr>
        <p:spPr>
          <a:xfrm>
            <a:off x="515491" y="1312317"/>
            <a:ext cx="1063850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Text-to-Image Generation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Stable Diffusion model.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converts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prompts into meaningful images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diffusion-based generative AI.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interface using Django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interaction and image visualization.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 with a Django web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images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closely match the given text prompts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the need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image design in usability interfaces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a practical application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in web development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diffusion-based generative models can automate image creation from 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efficiency and enabling new possibilities in UI development and creative applications.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02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98CA4-CC6B-9DB3-4E56-2FBCE993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7E11A5-660C-02F8-3215-A5F5A3BB4EE4}"/>
              </a:ext>
            </a:extLst>
          </p:cNvPr>
          <p:cNvSpPr txBox="1"/>
          <p:nvPr/>
        </p:nvSpPr>
        <p:spPr>
          <a:xfrm>
            <a:off x="4497356" y="536103"/>
            <a:ext cx="3967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B7E14-0177-D39F-8FA1-43AC6A9CF8E5}"/>
              </a:ext>
            </a:extLst>
          </p:cNvPr>
          <p:cNvSpPr txBox="1"/>
          <p:nvPr/>
        </p:nvSpPr>
        <p:spPr>
          <a:xfrm>
            <a:off x="515491" y="1312317"/>
            <a:ext cx="1063850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Enhancements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Additional Image Styles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generate images in more artistic and design styles.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Prompt Engineering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prompt design techniques to generate more accurate and detailed images.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Image Generation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system to generate images faster for real-time applications.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cloud platforms to improve scalability and accessibility.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Extensions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text-to-video or text-to-3D generation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05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30709" y="2631866"/>
            <a:ext cx="53450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aveform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AITS</Template>
  <TotalTime>3901</TotalTime>
  <Words>1079</Words>
  <Application>Microsoft Office PowerPoint</Application>
  <PresentationFormat>Widescreen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32" baseType="lpstr">
      <vt:lpstr>Algerian</vt:lpstr>
      <vt:lpstr>Arial</vt:lpstr>
      <vt:lpstr>Arial Black</vt:lpstr>
      <vt:lpstr>Arial Narrow</vt:lpstr>
      <vt:lpstr>Candara</vt:lpstr>
      <vt:lpstr>Consolas</vt:lpstr>
      <vt:lpstr>Corbel</vt:lpstr>
      <vt:lpstr>Georgia</vt:lpstr>
      <vt:lpstr>Symbol</vt:lpstr>
      <vt:lpstr>Times New Roman</vt:lpstr>
      <vt:lpstr>Trebuchet MS</vt:lpstr>
      <vt:lpstr>Wingdings</vt:lpstr>
      <vt:lpstr>Wingdings 2</vt:lpstr>
      <vt:lpstr>Wingdings 3</vt:lpstr>
      <vt:lpstr>Metro</vt:lpstr>
      <vt:lpstr>Horizon</vt:lpstr>
      <vt:lpstr>Civic</vt:lpstr>
      <vt:lpstr>Waveform</vt:lpstr>
      <vt:lpstr>Slipstream</vt:lpstr>
      <vt:lpstr>ANNAMACHARYA INSTITUTE OF TECHNOLOGY AND SCIENCES::TIRUPATI (AUTONOMOUS) Artificial Intelligence &amp; Data Science A.Y.: 2025-2026 SECOND REVIEW   A Text-to-image Generators in the Development of the Usability Interface</vt:lpstr>
      <vt:lpstr>MODEL DEVELOPMENT </vt:lpstr>
      <vt:lpstr>Model Selection &amp; Justification </vt:lpstr>
      <vt:lpstr>Hyperparameter Tuning </vt:lpstr>
      <vt:lpstr>Performance Results </vt:lpstr>
      <vt:lpstr>Model Comparison</vt:lpstr>
      <vt:lpstr>Deployment Strategy </vt:lpstr>
      <vt:lpstr>Deployment Strategy </vt:lpstr>
      <vt:lpstr>Integration Process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sasi kumar</dc:creator>
  <cp:lastModifiedBy>vasagiri prabhas</cp:lastModifiedBy>
  <cp:revision>164</cp:revision>
  <cp:lastPrinted>2026-02-19T02:37:58Z</cp:lastPrinted>
  <dcterms:created xsi:type="dcterms:W3CDTF">2021-12-20T13:54:00Z</dcterms:created>
  <dcterms:modified xsi:type="dcterms:W3CDTF">2026-03-14T18:37:10Z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F7B180E6C5A649F49ED6F1C2A21B4EFB_12</vt:lpwstr>
  </property>
  <property fmtid="{D5CDD505-2E9C-101B-9397-08002B2CF9AE}" pid="3" name="KSOProductBuildVer">
    <vt:lpwstr>1033-12.2.0.19307</vt:lpwstr>
  </property>
</Properties>
</file>