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Lst>
  <p:sldIdLst>
    <p:sldId id="256" r:id="rId6"/>
    <p:sldId id="283" r:id="rId7"/>
    <p:sldId id="288" r:id="rId8"/>
    <p:sldId id="284" r:id="rId9"/>
    <p:sldId id="258" r:id="rId10"/>
    <p:sldId id="285" r:id="rId11"/>
    <p:sldId id="270" r:id="rId12"/>
    <p:sldId id="277" r:id="rId13"/>
    <p:sldId id="269" r:id="rId14"/>
    <p:sldId id="287" r:id="rId15"/>
    <p:sldId id="280" r:id="rId16"/>
    <p:sldId id="286" r:id="rId17"/>
    <p:sldId id="26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60"/>
  </p:normalViewPr>
  <p:slideViewPr>
    <p:cSldViewPr snapToGrid="0" showGuides="1">
      <p:cViewPr varScale="1">
        <p:scale>
          <a:sx n="85" d="100"/>
          <a:sy n="85" d="100"/>
        </p:scale>
        <p:origin x="821" y="62"/>
      </p:cViewPr>
      <p:guideLst>
        <p:guide orient="horz" pos="2160"/>
        <p:guide pos="383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1/23/2026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1/23/2026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1/23/2026</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1/23/2026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1/23/2026</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t>1/23/2026</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1/23/2026</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1/23/2026</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1/23/2026</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1/23/2026</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217716" y="233082"/>
            <a:ext cx="11451771" cy="2840885"/>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IN" sz="2400" b="1" dirty="0">
                <a:solidFill>
                  <a:srgbClr val="0033CC"/>
                </a:solidFill>
                <a:effectLst/>
              </a:rPr>
              <a:t>Artificial Intelligence &amp; Data Science</a:t>
            </a:r>
            <a:br>
              <a:rPr lang="en-IN" sz="2000" dirty="0">
                <a:solidFill>
                  <a:srgbClr val="0033CC"/>
                </a:solidFill>
                <a:effectLst/>
              </a:rPr>
            </a:br>
            <a:r>
              <a:rPr lang="en-IN" sz="2400" dirty="0">
                <a:effectLst/>
                <a:latin typeface="Algerian" pitchFamily="82" charset="0"/>
              </a:rPr>
              <a:t>A.Y.: 2025-2026</a:t>
            </a:r>
            <a:br>
              <a:rPr lang="en-IN" sz="2700" b="1" dirty="0">
                <a:solidFill>
                  <a:schemeClr val="accent1">
                    <a:lumMod val="75000"/>
                  </a:schemeClr>
                </a:solidFill>
                <a:effectLst/>
              </a:rPr>
            </a:br>
            <a:r>
              <a:rPr lang="en-IN" sz="2700" b="1" dirty="0">
                <a:solidFill>
                  <a:schemeClr val="accent1">
                    <a:lumMod val="75000"/>
                  </a:schemeClr>
                </a:solidFill>
                <a:effectLst/>
              </a:rPr>
              <a:t>FIRST REVIEW</a:t>
            </a:r>
            <a:br>
              <a:rPr lang="en-IN" sz="2700" b="1" dirty="0">
                <a:solidFill>
                  <a:schemeClr val="accent1">
                    <a:lumMod val="75000"/>
                  </a:schemeClr>
                </a:solidFill>
                <a:effectLst/>
              </a:rPr>
            </a:br>
            <a:br>
              <a:rPr lang="en-IN" sz="2000" dirty="0">
                <a:effectLst/>
              </a:rPr>
            </a:br>
            <a:r>
              <a:rPr lang="en-GB" sz="2400" dirty="0">
                <a:solidFill>
                  <a:srgbClr val="C00000"/>
                </a:solidFill>
                <a:effectLst/>
                <a:latin typeface="Arial Black" panose="020B0A04020102020204" pitchFamily="34" charset="0"/>
              </a:rPr>
              <a:t>A Text-to-image Generators in the Development of the Usability Interface</a:t>
            </a:r>
            <a:endParaRPr lang="en-IN" sz="2400" dirty="0">
              <a:effectLst/>
            </a:endParaRPr>
          </a:p>
        </p:txBody>
      </p:sp>
      <p:sp>
        <p:nvSpPr>
          <p:cNvPr id="5" name="TextBox 4"/>
          <p:cNvSpPr txBox="1"/>
          <p:nvPr/>
        </p:nvSpPr>
        <p:spPr>
          <a:xfrm>
            <a:off x="2339761" y="4673807"/>
            <a:ext cx="7727603" cy="2000548"/>
          </a:xfrm>
          <a:prstGeom prst="rect">
            <a:avLst/>
          </a:prstGeom>
          <a:noFill/>
        </p:spPr>
        <p:txBody>
          <a:bodyPr wrap="square" rtlCol="0">
            <a:spAutoFit/>
          </a:bodyPr>
          <a:lstStyle/>
          <a:p>
            <a:r>
              <a:rPr lang="en-GB" sz="2000" b="1" dirty="0"/>
              <a:t>			   </a:t>
            </a:r>
            <a:r>
              <a:rPr lang="en-GB" sz="2400" b="1" dirty="0">
                <a:solidFill>
                  <a:srgbClr val="660033"/>
                </a:solidFill>
              </a:rPr>
              <a:t>BATCH NO: 11</a:t>
            </a:r>
          </a:p>
          <a:p>
            <a:endParaRPr lang="en-GB" sz="2000" b="1" dirty="0"/>
          </a:p>
          <a:p>
            <a:pPr algn="just"/>
            <a:r>
              <a:rPr lang="en-US" sz="2000" b="1" dirty="0"/>
              <a:t>22AK1A3057  		            Y.NARAYANA VARA PRASAD REDDY</a:t>
            </a:r>
          </a:p>
          <a:p>
            <a:pPr algn="just"/>
            <a:r>
              <a:rPr lang="en-US" sz="2000" b="1" dirty="0"/>
              <a:t>22AK1A3065		            V.PRABHAS</a:t>
            </a:r>
          </a:p>
          <a:p>
            <a:r>
              <a:rPr lang="en-US" sz="2000" b="1" dirty="0"/>
              <a:t>22AK1A3074			      S.SELEEM BASHA</a:t>
            </a:r>
          </a:p>
          <a:p>
            <a:r>
              <a:rPr lang="en-US" sz="2000" b="1" dirty="0"/>
              <a:t>22AK1A3092                      K.VENKATA ASHISH RAJ</a:t>
            </a:r>
            <a:endParaRPr lang="en-IN" sz="2000" b="1" dirty="0"/>
          </a:p>
        </p:txBody>
      </p:sp>
      <p:sp>
        <p:nvSpPr>
          <p:cNvPr id="6" name="TextBox 5"/>
          <p:cNvSpPr txBox="1"/>
          <p:nvPr/>
        </p:nvSpPr>
        <p:spPr>
          <a:xfrm>
            <a:off x="406400" y="3042591"/>
            <a:ext cx="4994927" cy="1631216"/>
          </a:xfrm>
          <a:prstGeom prst="rect">
            <a:avLst/>
          </a:prstGeom>
          <a:noFill/>
        </p:spPr>
        <p:txBody>
          <a:bodyPr wrap="square" rtlCol="0">
            <a:spAutoFit/>
          </a:bodyPr>
          <a:lstStyle/>
          <a:p>
            <a:r>
              <a:rPr lang="en-GB" sz="2000" b="1" dirty="0">
                <a:solidFill>
                  <a:srgbClr val="FF0000"/>
                </a:solidFill>
              </a:rPr>
              <a:t>Under the Guidance of</a:t>
            </a:r>
          </a:p>
          <a:p>
            <a:r>
              <a:rPr lang="en-GB" sz="2000" b="1" dirty="0" err="1">
                <a:solidFill>
                  <a:srgbClr val="0033CC"/>
                </a:solidFill>
              </a:rPr>
              <a:t>Ms.K.Gangothri</a:t>
            </a:r>
            <a:r>
              <a:rPr lang="en-GB" sz="2000" b="1" dirty="0">
                <a:solidFill>
                  <a:srgbClr val="0033CC"/>
                </a:solidFill>
              </a:rPr>
              <a:t> , MCA</a:t>
            </a:r>
          </a:p>
          <a:p>
            <a:r>
              <a:rPr lang="en-GB" sz="2000" b="1" dirty="0"/>
              <a:t>Assistant Professor</a:t>
            </a:r>
          </a:p>
          <a:p>
            <a:r>
              <a:rPr lang="en-GB" sz="2000" b="1" dirty="0"/>
              <a:t>Department of AI&amp;DS</a:t>
            </a:r>
          </a:p>
          <a:p>
            <a:r>
              <a:rPr lang="en-GB" sz="2000" b="1" dirty="0"/>
              <a:t>AITS, Tirupati</a:t>
            </a:r>
            <a:endParaRPr lang="en-IN" sz="2000" b="1" dirty="0"/>
          </a:p>
        </p:txBody>
      </p:sp>
      <p:sp>
        <p:nvSpPr>
          <p:cNvPr id="7" name="TextBox 6"/>
          <p:cNvSpPr txBox="1"/>
          <p:nvPr/>
        </p:nvSpPr>
        <p:spPr>
          <a:xfrm>
            <a:off x="6485876" y="3011214"/>
            <a:ext cx="5299724" cy="1631216"/>
          </a:xfrm>
          <a:prstGeom prst="rect">
            <a:avLst/>
          </a:prstGeom>
          <a:noFill/>
        </p:spPr>
        <p:txBody>
          <a:bodyPr wrap="square" rtlCol="0">
            <a:spAutoFit/>
          </a:bodyPr>
          <a:lstStyle/>
          <a:p>
            <a:r>
              <a:rPr lang="en-GB" sz="2000" b="1" dirty="0">
                <a:solidFill>
                  <a:srgbClr val="FF0000"/>
                </a:solidFill>
              </a:rPr>
              <a:t>Head of the Department</a:t>
            </a:r>
          </a:p>
          <a:p>
            <a:r>
              <a:rPr lang="en-GB" sz="2000" b="1" dirty="0">
                <a:solidFill>
                  <a:srgbClr val="0033CC"/>
                </a:solidFill>
              </a:rPr>
              <a:t>Ms. B. Rupa Devi Singh, </a:t>
            </a:r>
            <a:r>
              <a:rPr lang="en-GB" sz="2000" b="1" dirty="0" err="1">
                <a:solidFill>
                  <a:srgbClr val="0033CC"/>
                </a:solidFill>
              </a:rPr>
              <a:t>M.Tech</a:t>
            </a:r>
            <a:r>
              <a:rPr lang="en-GB" sz="2000" b="1" dirty="0">
                <a:solidFill>
                  <a:srgbClr val="0033CC"/>
                </a:solidFill>
              </a:rPr>
              <a:t>., (</a:t>
            </a:r>
            <a:r>
              <a:rPr lang="en-GB" sz="2000" b="1" dirty="0" err="1">
                <a:solidFill>
                  <a:srgbClr val="0033CC"/>
                </a:solidFill>
              </a:rPr>
              <a:t>Ph.D</a:t>
            </a:r>
            <a:r>
              <a:rPr lang="en-GB" sz="2000" b="1" dirty="0">
                <a:solidFill>
                  <a:srgbClr val="0033CC"/>
                </a:solidFill>
              </a:rPr>
              <a:t>) </a:t>
            </a:r>
            <a:r>
              <a:rPr lang="en-GB" sz="2000" b="1" dirty="0"/>
              <a:t>Associate Professor</a:t>
            </a:r>
          </a:p>
          <a:p>
            <a:r>
              <a:rPr lang="en-GB" sz="2000" b="1" dirty="0"/>
              <a:t>Department of AI&amp;DS</a:t>
            </a:r>
          </a:p>
          <a:p>
            <a:r>
              <a:rPr lang="en-GB" sz="2000" b="1" dirty="0"/>
              <a:t>AITS, Tirupati</a:t>
            </a:r>
            <a:endParaRPr lang="en-IN" sz="2000" b="1"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029C65-6DCB-9378-2B51-48183CE0C1F8}"/>
              </a:ext>
            </a:extLst>
          </p:cNvPr>
          <p:cNvSpPr txBox="1"/>
          <p:nvPr/>
        </p:nvSpPr>
        <p:spPr>
          <a:xfrm>
            <a:off x="395384" y="1682354"/>
            <a:ext cx="11401231" cy="4708981"/>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INTRODUCTION </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 traditional UI development, images and icons are created manually using design tools. This process takes time, cost, and human effort. In this project, a Text-to-Image generator is used to automatically create images from text input called prompts.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system can generate iconic images (simple and symbolic) and realistic images (photo-like) based on the given prompt and style. These generated images are used directly in the usability interface.</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Diffusion model works from random noise and gradually converts it into a meaningful image based on the input text. </a:t>
            </a:r>
          </a:p>
          <a:p>
            <a:pPr marL="342900" indent="-342900">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MAIN OBJECTIVE:</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generate images from text using Text-to-Image Generative AI.</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create iconic and realistic, </a:t>
            </a:r>
            <a:r>
              <a:rPr lang="en-US" sz="2000" dirty="0" err="1">
                <a:latin typeface="Times New Roman" panose="02020603050405020304" pitchFamily="18" charset="0"/>
                <a:cs typeface="Times New Roman" panose="02020603050405020304" pitchFamily="18" charset="0"/>
              </a:rPr>
              <a:t>iconic,alegria</a:t>
            </a:r>
            <a:r>
              <a:rPr lang="en-US" sz="2000" dirty="0">
                <a:latin typeface="Times New Roman" panose="02020603050405020304" pitchFamily="18" charset="0"/>
                <a:cs typeface="Times New Roman" panose="02020603050405020304" pitchFamily="18" charset="0"/>
              </a:rPr>
              <a:t>  images for usability interfaces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reduce manual image design and improve UI development efficiency.</a:t>
            </a:r>
          </a:p>
          <a:p>
            <a:pPr marL="342900" indent="-342900">
              <a:buFont typeface="Wingdings" panose="05000000000000000000" pitchFamily="2" charset="2"/>
              <a:buChar char="§"/>
            </a:pPr>
            <a:endParaRPr lang="en-IN" sz="2000" dirty="0"/>
          </a:p>
        </p:txBody>
      </p:sp>
      <p:sp>
        <p:nvSpPr>
          <p:cNvPr id="6" name="TextBox 5">
            <a:extLst>
              <a:ext uri="{FF2B5EF4-FFF2-40B4-BE49-F238E27FC236}">
                <a16:creationId xmlns:a16="http://schemas.microsoft.com/office/drawing/2014/main" id="{671D84D5-4C32-A072-7FBB-94804172CE72}"/>
              </a:ext>
            </a:extLst>
          </p:cNvPr>
          <p:cNvSpPr txBox="1"/>
          <p:nvPr/>
        </p:nvSpPr>
        <p:spPr>
          <a:xfrm>
            <a:off x="2160402" y="466665"/>
            <a:ext cx="7387099"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INTRODUCTION &amp; OBJECTIVE</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317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51068-8833-78D2-6003-04486380BE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B0DC69-85BF-DC88-4152-1C7A750489A1}"/>
              </a:ext>
            </a:extLst>
          </p:cNvPr>
          <p:cNvSpPr txBox="1"/>
          <p:nvPr/>
        </p:nvSpPr>
        <p:spPr>
          <a:xfrm>
            <a:off x="2743108" y="771465"/>
            <a:ext cx="7387099"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LITERATURE SURVEY</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D4C814F-93A4-6213-A226-D0114976C659}"/>
              </a:ext>
            </a:extLst>
          </p:cNvPr>
          <p:cNvGraphicFramePr>
            <a:graphicFrameLocks noGrp="1"/>
          </p:cNvGraphicFramePr>
          <p:nvPr>
            <p:extLst>
              <p:ext uri="{D42A27DB-BD31-4B8C-83A1-F6EECF244321}">
                <p14:modId xmlns:p14="http://schemas.microsoft.com/office/powerpoint/2010/main" val="1790195336"/>
              </p:ext>
            </p:extLst>
          </p:nvPr>
        </p:nvGraphicFramePr>
        <p:xfrm>
          <a:off x="313765" y="731837"/>
          <a:ext cx="9816440" cy="5466768"/>
        </p:xfrm>
        <a:graphic>
          <a:graphicData uri="http://schemas.openxmlformats.org/drawingml/2006/table">
            <a:tbl>
              <a:tblPr/>
              <a:tblGrid>
                <a:gridCol w="1963288">
                  <a:extLst>
                    <a:ext uri="{9D8B030D-6E8A-4147-A177-3AD203B41FA5}">
                      <a16:colId xmlns:a16="http://schemas.microsoft.com/office/drawing/2014/main" val="1575935399"/>
                    </a:ext>
                  </a:extLst>
                </a:gridCol>
                <a:gridCol w="1963288">
                  <a:extLst>
                    <a:ext uri="{9D8B030D-6E8A-4147-A177-3AD203B41FA5}">
                      <a16:colId xmlns:a16="http://schemas.microsoft.com/office/drawing/2014/main" val="673895816"/>
                    </a:ext>
                  </a:extLst>
                </a:gridCol>
                <a:gridCol w="1963288">
                  <a:extLst>
                    <a:ext uri="{9D8B030D-6E8A-4147-A177-3AD203B41FA5}">
                      <a16:colId xmlns:a16="http://schemas.microsoft.com/office/drawing/2014/main" val="1710140119"/>
                    </a:ext>
                  </a:extLst>
                </a:gridCol>
                <a:gridCol w="1963288">
                  <a:extLst>
                    <a:ext uri="{9D8B030D-6E8A-4147-A177-3AD203B41FA5}">
                      <a16:colId xmlns:a16="http://schemas.microsoft.com/office/drawing/2014/main" val="2972167632"/>
                    </a:ext>
                  </a:extLst>
                </a:gridCol>
                <a:gridCol w="1963288">
                  <a:extLst>
                    <a:ext uri="{9D8B030D-6E8A-4147-A177-3AD203B41FA5}">
                      <a16:colId xmlns:a16="http://schemas.microsoft.com/office/drawing/2014/main" val="2990665874"/>
                    </a:ext>
                  </a:extLst>
                </a:gridCol>
              </a:tblGrid>
              <a:tr h="133997">
                <a:tc>
                  <a:txBody>
                    <a:bodyPr/>
                    <a:lstStyle/>
                    <a:p>
                      <a:pPr>
                        <a:buNone/>
                      </a:pPr>
                      <a:endParaRPr lang="en-IN" sz="1000" dirty="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extLst>
                  <a:ext uri="{0D108BD9-81ED-4DB2-BD59-A6C34878D82A}">
                    <a16:rowId xmlns:a16="http://schemas.microsoft.com/office/drawing/2014/main" val="1420044222"/>
                  </a:ext>
                </a:extLst>
              </a:tr>
              <a:tr h="1239480">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extLst>
                  <a:ext uri="{0D108BD9-81ED-4DB2-BD59-A6C34878D82A}">
                    <a16:rowId xmlns:a16="http://schemas.microsoft.com/office/drawing/2014/main" val="2191325183"/>
                  </a:ext>
                </a:extLst>
              </a:tr>
              <a:tr h="937986">
                <a:tc>
                  <a:txBody>
                    <a:bodyPr/>
                    <a:lstStyle/>
                    <a:p>
                      <a:pPr>
                        <a:buNone/>
                      </a:pPr>
                      <a:endParaRPr lang="en-IN" sz="1000" dirty="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extLst>
                  <a:ext uri="{0D108BD9-81ED-4DB2-BD59-A6C34878D82A}">
                    <a16:rowId xmlns:a16="http://schemas.microsoft.com/office/drawing/2014/main" val="1854070987"/>
                  </a:ext>
                </a:extLst>
              </a:tr>
              <a:tr h="1038484">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tc>
                  <a:txBody>
                    <a:bodyPr/>
                    <a:lstStyle/>
                    <a:p>
                      <a:pPr>
                        <a:buNone/>
                      </a:pPr>
                      <a:endParaRPr lang="en-IN" sz="1000" dirty="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extLst>
                  <a:ext uri="{0D108BD9-81ED-4DB2-BD59-A6C34878D82A}">
                    <a16:rowId xmlns:a16="http://schemas.microsoft.com/office/drawing/2014/main" val="1157640899"/>
                  </a:ext>
                </a:extLst>
              </a:tr>
              <a:tr h="1038484">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US" sz="1000" dirty="0"/>
                    </a:p>
                  </a:txBody>
                  <a:tcPr marL="21451" marR="21451" marT="10725" marB="10725" anchor="ctr">
                    <a:lnL>
                      <a:noFill/>
                    </a:lnL>
                    <a:lnR>
                      <a:noFill/>
                    </a:lnR>
                    <a:lnT>
                      <a:noFill/>
                    </a:lnT>
                    <a:lnB>
                      <a:noFill/>
                    </a:lnB>
                    <a:noFill/>
                  </a:tcPr>
                </a:tc>
                <a:tc>
                  <a:txBody>
                    <a:bodyPr/>
                    <a:lstStyle/>
                    <a:p>
                      <a:pPr>
                        <a:buNone/>
                      </a:pPr>
                      <a:endParaRPr lang="en-IN" sz="1000" dirty="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extLst>
                  <a:ext uri="{0D108BD9-81ED-4DB2-BD59-A6C34878D82A}">
                    <a16:rowId xmlns:a16="http://schemas.microsoft.com/office/drawing/2014/main" val="1460467456"/>
                  </a:ext>
                </a:extLst>
              </a:tr>
              <a:tr h="1038484">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IN" sz="1000"/>
                    </a:p>
                  </a:txBody>
                  <a:tcPr marL="21451" marR="21451" marT="10725" marB="10725" anchor="ctr">
                    <a:lnL>
                      <a:noFill/>
                    </a:lnL>
                    <a:lnR>
                      <a:noFill/>
                    </a:lnR>
                    <a:lnT>
                      <a:noFill/>
                    </a:lnT>
                    <a:lnB>
                      <a:noFill/>
                    </a:lnB>
                    <a:noFill/>
                  </a:tcPr>
                </a:tc>
                <a:tc>
                  <a:txBody>
                    <a:bodyPr/>
                    <a:lstStyle/>
                    <a:p>
                      <a:pPr>
                        <a:buNone/>
                      </a:pPr>
                      <a:endParaRPr lang="en-US" sz="1000"/>
                    </a:p>
                  </a:txBody>
                  <a:tcPr marL="21451" marR="21451" marT="10725" marB="10725" anchor="ctr">
                    <a:lnL>
                      <a:noFill/>
                    </a:lnL>
                    <a:lnR>
                      <a:noFill/>
                    </a:lnR>
                    <a:lnT>
                      <a:noFill/>
                    </a:lnT>
                    <a:lnB>
                      <a:noFill/>
                    </a:lnB>
                    <a:noFill/>
                  </a:tcPr>
                </a:tc>
                <a:tc>
                  <a:txBody>
                    <a:bodyPr/>
                    <a:lstStyle/>
                    <a:p>
                      <a:pPr>
                        <a:buNone/>
                      </a:pPr>
                      <a:endParaRPr lang="en-IN" sz="1000" dirty="0"/>
                    </a:p>
                  </a:txBody>
                  <a:tcPr marL="21451" marR="21451" marT="10725" marB="10725" anchor="ctr">
                    <a:lnL>
                      <a:noFill/>
                    </a:lnL>
                    <a:lnR>
                      <a:noFill/>
                    </a:lnR>
                    <a:lnT>
                      <a:noFill/>
                    </a:lnT>
                    <a:lnB>
                      <a:noFill/>
                    </a:lnB>
                    <a:noFill/>
                  </a:tcPr>
                </a:tc>
                <a:tc>
                  <a:txBody>
                    <a:bodyPr/>
                    <a:lstStyle/>
                    <a:p>
                      <a:pPr>
                        <a:buNone/>
                      </a:pPr>
                      <a:endParaRPr lang="en-US" sz="1000" dirty="0"/>
                    </a:p>
                  </a:txBody>
                  <a:tcPr marL="21451" marR="21451" marT="10725" marB="10725" anchor="ctr">
                    <a:lnL>
                      <a:noFill/>
                    </a:lnL>
                    <a:lnR>
                      <a:noFill/>
                    </a:lnR>
                    <a:lnT>
                      <a:noFill/>
                    </a:lnT>
                    <a:lnB>
                      <a:noFill/>
                    </a:lnB>
                    <a:noFill/>
                  </a:tcPr>
                </a:tc>
                <a:extLst>
                  <a:ext uri="{0D108BD9-81ED-4DB2-BD59-A6C34878D82A}">
                    <a16:rowId xmlns:a16="http://schemas.microsoft.com/office/drawing/2014/main" val="3489007368"/>
                  </a:ext>
                </a:extLst>
              </a:tr>
            </a:tbl>
          </a:graphicData>
        </a:graphic>
      </p:graphicFrame>
      <p:graphicFrame>
        <p:nvGraphicFramePr>
          <p:cNvPr id="8" name="Table 7">
            <a:extLst>
              <a:ext uri="{FF2B5EF4-FFF2-40B4-BE49-F238E27FC236}">
                <a16:creationId xmlns:a16="http://schemas.microsoft.com/office/drawing/2014/main" id="{282C3B11-B38D-4BF1-F51D-C89F3A225B40}"/>
              </a:ext>
            </a:extLst>
          </p:cNvPr>
          <p:cNvGraphicFramePr>
            <a:graphicFrameLocks noGrp="1"/>
          </p:cNvGraphicFramePr>
          <p:nvPr>
            <p:extLst>
              <p:ext uri="{D42A27DB-BD31-4B8C-83A1-F6EECF244321}">
                <p14:modId xmlns:p14="http://schemas.microsoft.com/office/powerpoint/2010/main" val="3365943409"/>
              </p:ext>
            </p:extLst>
          </p:nvPr>
        </p:nvGraphicFramePr>
        <p:xfrm>
          <a:off x="430306" y="1450386"/>
          <a:ext cx="11124260" cy="4869505"/>
        </p:xfrm>
        <a:graphic>
          <a:graphicData uri="http://schemas.openxmlformats.org/drawingml/2006/table">
            <a:tbl>
              <a:tblPr firstRow="1" bandRow="1">
                <a:tableStyleId>{5C22544A-7EE6-4342-B048-85BDC9FD1C3A}</a:tableStyleId>
              </a:tblPr>
              <a:tblGrid>
                <a:gridCol w="2224852">
                  <a:extLst>
                    <a:ext uri="{9D8B030D-6E8A-4147-A177-3AD203B41FA5}">
                      <a16:colId xmlns:a16="http://schemas.microsoft.com/office/drawing/2014/main" val="3747430864"/>
                    </a:ext>
                  </a:extLst>
                </a:gridCol>
                <a:gridCol w="2224852">
                  <a:extLst>
                    <a:ext uri="{9D8B030D-6E8A-4147-A177-3AD203B41FA5}">
                      <a16:colId xmlns:a16="http://schemas.microsoft.com/office/drawing/2014/main" val="1671876819"/>
                    </a:ext>
                  </a:extLst>
                </a:gridCol>
                <a:gridCol w="2224852">
                  <a:extLst>
                    <a:ext uri="{9D8B030D-6E8A-4147-A177-3AD203B41FA5}">
                      <a16:colId xmlns:a16="http://schemas.microsoft.com/office/drawing/2014/main" val="2383658461"/>
                    </a:ext>
                  </a:extLst>
                </a:gridCol>
                <a:gridCol w="2224852">
                  <a:extLst>
                    <a:ext uri="{9D8B030D-6E8A-4147-A177-3AD203B41FA5}">
                      <a16:colId xmlns:a16="http://schemas.microsoft.com/office/drawing/2014/main" val="2021192750"/>
                    </a:ext>
                  </a:extLst>
                </a:gridCol>
                <a:gridCol w="2224852">
                  <a:extLst>
                    <a:ext uri="{9D8B030D-6E8A-4147-A177-3AD203B41FA5}">
                      <a16:colId xmlns:a16="http://schemas.microsoft.com/office/drawing/2014/main" val="2986384554"/>
                    </a:ext>
                  </a:extLst>
                </a:gridCol>
              </a:tblGrid>
              <a:tr h="478683">
                <a:tc>
                  <a:txBody>
                    <a:bodyPr/>
                    <a:lstStyle/>
                    <a:p>
                      <a:pPr algn="l">
                        <a:buNone/>
                      </a:pPr>
                      <a:r>
                        <a:rPr lang="en-IN" sz="1200" b="0" dirty="0" err="1"/>
                        <a:t>S.No</a:t>
                      </a:r>
                      <a:endParaRPr lang="en-IN" sz="1200" b="0" dirty="0"/>
                    </a:p>
                  </a:txBody>
                  <a:tcPr marL="21451" marR="21451" marT="10725" marB="10725" anchor="ctr"/>
                </a:tc>
                <a:tc>
                  <a:txBody>
                    <a:bodyPr/>
                    <a:lstStyle/>
                    <a:p>
                      <a:pPr algn="l">
                        <a:buNone/>
                      </a:pPr>
                      <a:r>
                        <a:rPr lang="en-IN" sz="1200" b="0"/>
                        <a:t>Author(s)</a:t>
                      </a:r>
                    </a:p>
                  </a:txBody>
                  <a:tcPr marL="21451" marR="21451" marT="10725" marB="10725" anchor="ctr"/>
                </a:tc>
                <a:tc>
                  <a:txBody>
                    <a:bodyPr/>
                    <a:lstStyle/>
                    <a:p>
                      <a:pPr algn="l">
                        <a:buNone/>
                      </a:pPr>
                      <a:r>
                        <a:rPr lang="en-IN" sz="1200" b="0" dirty="0"/>
                        <a:t>Title</a:t>
                      </a:r>
                    </a:p>
                  </a:txBody>
                  <a:tcPr marL="21451" marR="21451" marT="10725" marB="10725" anchor="ctr"/>
                </a:tc>
                <a:tc>
                  <a:txBody>
                    <a:bodyPr/>
                    <a:lstStyle/>
                    <a:p>
                      <a:pPr algn="l">
                        <a:buNone/>
                      </a:pPr>
                      <a:r>
                        <a:rPr lang="en-IN" sz="1200" b="0"/>
                        <a:t>Year</a:t>
                      </a:r>
                    </a:p>
                  </a:txBody>
                  <a:tcPr marL="21451" marR="21451" marT="10725" marB="10725" anchor="ctr"/>
                </a:tc>
                <a:tc>
                  <a:txBody>
                    <a:bodyPr/>
                    <a:lstStyle/>
                    <a:p>
                      <a:pPr algn="l">
                        <a:buNone/>
                      </a:pPr>
                      <a:r>
                        <a:rPr lang="en-IN" sz="1200" b="0"/>
                        <a:t>Description</a:t>
                      </a:r>
                    </a:p>
                  </a:txBody>
                  <a:tcPr marL="21451" marR="21451" marT="10725" marB="10725" anchor="ctr"/>
                </a:tc>
                <a:extLst>
                  <a:ext uri="{0D108BD9-81ED-4DB2-BD59-A6C34878D82A}">
                    <a16:rowId xmlns:a16="http://schemas.microsoft.com/office/drawing/2014/main" val="1729942424"/>
                  </a:ext>
                </a:extLst>
              </a:tr>
              <a:tr h="1011283">
                <a:tc>
                  <a:txBody>
                    <a:bodyPr/>
                    <a:lstStyle/>
                    <a:p>
                      <a:pPr algn="l">
                        <a:buNone/>
                      </a:pPr>
                      <a:r>
                        <a:rPr lang="en-IN" sz="1200" b="0" dirty="0"/>
                        <a:t>1</a:t>
                      </a:r>
                    </a:p>
                  </a:txBody>
                  <a:tcPr marL="21451" marR="21451" marT="10725" marB="10725" anchor="ctr"/>
                </a:tc>
                <a:tc>
                  <a:txBody>
                    <a:bodyPr/>
                    <a:lstStyle/>
                    <a:p>
                      <a:pPr algn="l">
                        <a:buNone/>
                      </a:pPr>
                      <a:r>
                        <a:rPr lang="en-IN" sz="1200" b="0"/>
                        <a:t>Robin Rombach et al.</a:t>
                      </a:r>
                    </a:p>
                  </a:txBody>
                  <a:tcPr marL="21451" marR="21451" marT="10725" marB="10725" anchor="ctr"/>
                </a:tc>
                <a:tc>
                  <a:txBody>
                    <a:bodyPr/>
                    <a:lstStyle/>
                    <a:p>
                      <a:pPr algn="l">
                        <a:buNone/>
                      </a:pPr>
                      <a:r>
                        <a:rPr lang="en-US" sz="1200" b="0"/>
                        <a:t>High-Resolution Image Synthesis with Latent Diffusion Models</a:t>
                      </a:r>
                    </a:p>
                  </a:txBody>
                  <a:tcPr marL="21451" marR="21451" marT="10725" marB="10725" anchor="ctr"/>
                </a:tc>
                <a:tc>
                  <a:txBody>
                    <a:bodyPr/>
                    <a:lstStyle/>
                    <a:p>
                      <a:pPr algn="l">
                        <a:buNone/>
                      </a:pPr>
                      <a:r>
                        <a:rPr lang="en-IN" sz="1200" b="0"/>
                        <a:t>2022</a:t>
                      </a:r>
                    </a:p>
                  </a:txBody>
                  <a:tcPr marL="21451" marR="21451" marT="10725" marB="10725" anchor="ctr"/>
                </a:tc>
                <a:tc>
                  <a:txBody>
                    <a:bodyPr/>
                    <a:lstStyle/>
                    <a:p>
                      <a:pPr algn="just">
                        <a:buNone/>
                      </a:pPr>
                      <a:r>
                        <a:rPr lang="en-US" sz="1200" b="0" dirty="0"/>
                        <a:t>Introduces latent diffusion models that form the foundation of Stable Diffusion for efficient and high-quality image generation.</a:t>
                      </a:r>
                    </a:p>
                  </a:txBody>
                  <a:tcPr marL="21451" marR="21451" marT="10725" marB="10725" anchor="ctr"/>
                </a:tc>
                <a:extLst>
                  <a:ext uri="{0D108BD9-81ED-4DB2-BD59-A6C34878D82A}">
                    <a16:rowId xmlns:a16="http://schemas.microsoft.com/office/drawing/2014/main" val="3002645532"/>
                  </a:ext>
                </a:extLst>
              </a:tr>
              <a:tr h="814563">
                <a:tc>
                  <a:txBody>
                    <a:bodyPr/>
                    <a:lstStyle/>
                    <a:p>
                      <a:pPr algn="l">
                        <a:buNone/>
                      </a:pPr>
                      <a:r>
                        <a:rPr lang="en-IN" sz="1200" b="0" dirty="0"/>
                        <a:t>2</a:t>
                      </a:r>
                    </a:p>
                  </a:txBody>
                  <a:tcPr marL="21451" marR="21451" marT="10725" marB="10725" anchor="ctr"/>
                </a:tc>
                <a:tc>
                  <a:txBody>
                    <a:bodyPr/>
                    <a:lstStyle/>
                    <a:p>
                      <a:pPr algn="l">
                        <a:buNone/>
                      </a:pPr>
                      <a:r>
                        <a:rPr lang="en-IN" sz="1200" b="0"/>
                        <a:t>Andreas Blattmann et al.</a:t>
                      </a:r>
                    </a:p>
                  </a:txBody>
                  <a:tcPr marL="21451" marR="21451" marT="10725" marB="10725" anchor="ctr"/>
                </a:tc>
                <a:tc>
                  <a:txBody>
                    <a:bodyPr/>
                    <a:lstStyle/>
                    <a:p>
                      <a:pPr algn="l">
                        <a:buNone/>
                      </a:pPr>
                      <a:r>
                        <a:rPr lang="en-IN" sz="1200" b="0"/>
                        <a:t>Diffusion Models for Text-to-Image Generation</a:t>
                      </a:r>
                    </a:p>
                  </a:txBody>
                  <a:tcPr marL="21451" marR="21451" marT="10725" marB="10725" anchor="ctr"/>
                </a:tc>
                <a:tc>
                  <a:txBody>
                    <a:bodyPr/>
                    <a:lstStyle/>
                    <a:p>
                      <a:pPr algn="l">
                        <a:buNone/>
                      </a:pPr>
                      <a:r>
                        <a:rPr lang="en-IN" sz="1200" b="0"/>
                        <a:t>2022</a:t>
                      </a:r>
                    </a:p>
                  </a:txBody>
                  <a:tcPr marL="21451" marR="21451" marT="10725" marB="10725" anchor="ctr"/>
                </a:tc>
                <a:tc>
                  <a:txBody>
                    <a:bodyPr/>
                    <a:lstStyle/>
                    <a:p>
                      <a:pPr algn="just">
                        <a:buNone/>
                      </a:pPr>
                      <a:r>
                        <a:rPr lang="en-US" sz="1200" b="0" dirty="0"/>
                        <a:t>Explains how diffusion models generate realistic images from text prompts using iterative denoising.</a:t>
                      </a:r>
                    </a:p>
                  </a:txBody>
                  <a:tcPr marL="21451" marR="21451" marT="10725" marB="10725" anchor="ctr"/>
                </a:tc>
                <a:extLst>
                  <a:ext uri="{0D108BD9-81ED-4DB2-BD59-A6C34878D82A}">
                    <a16:rowId xmlns:a16="http://schemas.microsoft.com/office/drawing/2014/main" val="1962273755"/>
                  </a:ext>
                </a:extLst>
              </a:tr>
              <a:tr h="814563">
                <a:tc>
                  <a:txBody>
                    <a:bodyPr/>
                    <a:lstStyle/>
                    <a:p>
                      <a:pPr algn="l">
                        <a:buNone/>
                      </a:pPr>
                      <a:r>
                        <a:rPr lang="en-IN" sz="1200" b="0"/>
                        <a:t>3</a:t>
                      </a:r>
                    </a:p>
                  </a:txBody>
                  <a:tcPr marL="21451" marR="21451" marT="10725" marB="10725" anchor="ctr"/>
                </a:tc>
                <a:tc>
                  <a:txBody>
                    <a:bodyPr/>
                    <a:lstStyle/>
                    <a:p>
                      <a:pPr algn="l">
                        <a:buNone/>
                      </a:pPr>
                      <a:r>
                        <a:rPr lang="en-IN" sz="1200" b="0"/>
                        <a:t>Ruixiang Zhang et al.</a:t>
                      </a:r>
                    </a:p>
                  </a:txBody>
                  <a:tcPr marL="21451" marR="21451" marT="10725" marB="10725" anchor="ctr"/>
                </a:tc>
                <a:tc>
                  <a:txBody>
                    <a:bodyPr/>
                    <a:lstStyle/>
                    <a:p>
                      <a:pPr algn="l">
                        <a:buNone/>
                      </a:pPr>
                      <a:r>
                        <a:rPr lang="en-US" sz="1200" b="0"/>
                        <a:t>DreamBooth: Fine-Tuning Text-to-Image Diffusion Models for Subject-Driven Generation</a:t>
                      </a:r>
                    </a:p>
                  </a:txBody>
                  <a:tcPr marL="21451" marR="21451" marT="10725" marB="10725" anchor="ctr"/>
                </a:tc>
                <a:tc>
                  <a:txBody>
                    <a:bodyPr/>
                    <a:lstStyle/>
                    <a:p>
                      <a:pPr algn="l">
                        <a:buNone/>
                      </a:pPr>
                      <a:r>
                        <a:rPr lang="en-IN" sz="1200" b="0" dirty="0"/>
                        <a:t>2022</a:t>
                      </a:r>
                    </a:p>
                  </a:txBody>
                  <a:tcPr marL="21451" marR="21451" marT="10725" marB="10725" anchor="ctr"/>
                </a:tc>
                <a:tc>
                  <a:txBody>
                    <a:bodyPr/>
                    <a:lstStyle/>
                    <a:p>
                      <a:pPr algn="just">
                        <a:buNone/>
                      </a:pPr>
                      <a:r>
                        <a:rPr lang="en-US" sz="1200" b="0" dirty="0"/>
                        <a:t>Presents </a:t>
                      </a:r>
                      <a:r>
                        <a:rPr lang="en-US" sz="1200" b="0" dirty="0" err="1"/>
                        <a:t>DreamBooth</a:t>
                      </a:r>
                      <a:r>
                        <a:rPr lang="en-US" sz="1200" b="0" dirty="0"/>
                        <a:t>, a fine-tuning technique for adapting pre-trained diffusion models to new styles or subjects.</a:t>
                      </a:r>
                    </a:p>
                  </a:txBody>
                  <a:tcPr marL="21451" marR="21451" marT="10725" marB="10725" anchor="ctr"/>
                </a:tc>
                <a:extLst>
                  <a:ext uri="{0D108BD9-81ED-4DB2-BD59-A6C34878D82A}">
                    <a16:rowId xmlns:a16="http://schemas.microsoft.com/office/drawing/2014/main" val="2235566234"/>
                  </a:ext>
                </a:extLst>
              </a:tr>
              <a:tr h="814563">
                <a:tc>
                  <a:txBody>
                    <a:bodyPr/>
                    <a:lstStyle/>
                    <a:p>
                      <a:pPr algn="l">
                        <a:buNone/>
                      </a:pPr>
                      <a:r>
                        <a:rPr lang="en-IN" sz="1200" b="0"/>
                        <a:t>4</a:t>
                      </a:r>
                    </a:p>
                  </a:txBody>
                  <a:tcPr marL="21451" marR="21451" marT="10725" marB="10725" anchor="ctr"/>
                </a:tc>
                <a:tc>
                  <a:txBody>
                    <a:bodyPr/>
                    <a:lstStyle/>
                    <a:p>
                      <a:pPr algn="l">
                        <a:buNone/>
                      </a:pPr>
                      <a:r>
                        <a:rPr lang="en-IN" sz="1200" b="0"/>
                        <a:t>Patrick Esser et al.</a:t>
                      </a:r>
                    </a:p>
                  </a:txBody>
                  <a:tcPr marL="21451" marR="21451" marT="10725" marB="10725" anchor="ctr"/>
                </a:tc>
                <a:tc>
                  <a:txBody>
                    <a:bodyPr/>
                    <a:lstStyle/>
                    <a:p>
                      <a:pPr algn="l">
                        <a:buNone/>
                      </a:pPr>
                      <a:r>
                        <a:rPr lang="en-US" sz="1200" b="0" dirty="0"/>
                        <a:t>Taming Transformers for High-Resolution Image Synthesis</a:t>
                      </a:r>
                    </a:p>
                  </a:txBody>
                  <a:tcPr marL="21451" marR="21451" marT="10725" marB="10725" anchor="ctr"/>
                </a:tc>
                <a:tc>
                  <a:txBody>
                    <a:bodyPr/>
                    <a:lstStyle/>
                    <a:p>
                      <a:pPr algn="l">
                        <a:buNone/>
                      </a:pPr>
                      <a:r>
                        <a:rPr lang="en-IN" sz="1200" b="0" dirty="0"/>
                        <a:t>2021</a:t>
                      </a:r>
                    </a:p>
                  </a:txBody>
                  <a:tcPr marL="21451" marR="21451" marT="10725" marB="10725" anchor="ctr"/>
                </a:tc>
                <a:tc>
                  <a:txBody>
                    <a:bodyPr/>
                    <a:lstStyle/>
                    <a:p>
                      <a:pPr algn="just">
                        <a:buNone/>
                      </a:pPr>
                      <a:r>
                        <a:rPr lang="en-US" sz="1200" b="0" dirty="0"/>
                        <a:t>Discusses combining transformers with latent representations, influencing modern diffusion-based image generators.</a:t>
                      </a:r>
                    </a:p>
                  </a:txBody>
                  <a:tcPr marL="21451" marR="21451" marT="10725" marB="10725" anchor="ctr"/>
                </a:tc>
                <a:extLst>
                  <a:ext uri="{0D108BD9-81ED-4DB2-BD59-A6C34878D82A}">
                    <a16:rowId xmlns:a16="http://schemas.microsoft.com/office/drawing/2014/main" val="866118042"/>
                  </a:ext>
                </a:extLst>
              </a:tr>
              <a:tr h="814563">
                <a:tc>
                  <a:txBody>
                    <a:bodyPr/>
                    <a:lstStyle/>
                    <a:p>
                      <a:pPr algn="l">
                        <a:buNone/>
                      </a:pPr>
                      <a:r>
                        <a:rPr lang="en-IN" sz="1200" b="0"/>
                        <a:t>5</a:t>
                      </a:r>
                    </a:p>
                  </a:txBody>
                  <a:tcPr marL="21451" marR="21451" marT="10725" marB="10725" anchor="ctr"/>
                </a:tc>
                <a:tc>
                  <a:txBody>
                    <a:bodyPr/>
                    <a:lstStyle/>
                    <a:p>
                      <a:pPr algn="l">
                        <a:buNone/>
                      </a:pPr>
                      <a:r>
                        <a:rPr lang="en-IN" sz="1200" b="0"/>
                        <a:t>OpenAI</a:t>
                      </a:r>
                    </a:p>
                  </a:txBody>
                  <a:tcPr marL="21451" marR="21451" marT="10725" marB="10725" anchor="ctr"/>
                </a:tc>
                <a:tc>
                  <a:txBody>
                    <a:bodyPr/>
                    <a:lstStyle/>
                    <a:p>
                      <a:pPr algn="l">
                        <a:buNone/>
                      </a:pPr>
                      <a:r>
                        <a:rPr lang="en-US" sz="1200" b="0"/>
                        <a:t>DALL·E: Creating Images from Text</a:t>
                      </a:r>
                    </a:p>
                  </a:txBody>
                  <a:tcPr marL="21451" marR="21451" marT="10725" marB="10725" anchor="ctr"/>
                </a:tc>
                <a:tc>
                  <a:txBody>
                    <a:bodyPr/>
                    <a:lstStyle/>
                    <a:p>
                      <a:pPr algn="l">
                        <a:buNone/>
                      </a:pPr>
                      <a:r>
                        <a:rPr lang="en-IN" sz="1200" b="0" dirty="0"/>
                        <a:t>2021</a:t>
                      </a:r>
                    </a:p>
                  </a:txBody>
                  <a:tcPr marL="21451" marR="21451" marT="10725" marB="10725" anchor="ctr"/>
                </a:tc>
                <a:tc>
                  <a:txBody>
                    <a:bodyPr/>
                    <a:lstStyle/>
                    <a:p>
                      <a:pPr algn="just">
                        <a:buNone/>
                      </a:pPr>
                      <a:r>
                        <a:rPr lang="en-US" sz="1200" b="0" dirty="0"/>
                        <a:t>Demonstrates early large-scale text-to-image generation and motivates further research in AI-based image synthesis.</a:t>
                      </a:r>
                    </a:p>
                  </a:txBody>
                  <a:tcPr marL="21451" marR="21451" marT="10725" marB="10725" anchor="ctr"/>
                </a:tc>
                <a:extLst>
                  <a:ext uri="{0D108BD9-81ED-4DB2-BD59-A6C34878D82A}">
                    <a16:rowId xmlns:a16="http://schemas.microsoft.com/office/drawing/2014/main" val="1893471667"/>
                  </a:ext>
                </a:extLst>
              </a:tr>
            </a:tbl>
          </a:graphicData>
        </a:graphic>
      </p:graphicFrame>
    </p:spTree>
    <p:extLst>
      <p:ext uri="{BB962C8B-B14F-4D97-AF65-F5344CB8AC3E}">
        <p14:creationId xmlns:p14="http://schemas.microsoft.com/office/powerpoint/2010/main" val="4157026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55F392-13A3-F068-4FA0-75805637DBB8}"/>
              </a:ext>
            </a:extLst>
          </p:cNvPr>
          <p:cNvSpPr txBox="1"/>
          <p:nvPr/>
        </p:nvSpPr>
        <p:spPr>
          <a:xfrm>
            <a:off x="1525829" y="535900"/>
            <a:ext cx="9004831"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PROBLEM STATEMENT &amp; OVERVIEW</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ED3875-9390-4172-FAB9-31F85C5AE448}"/>
              </a:ext>
            </a:extLst>
          </p:cNvPr>
          <p:cNvSpPr txBox="1"/>
          <p:nvPr/>
        </p:nvSpPr>
        <p:spPr>
          <a:xfrm>
            <a:off x="494522" y="1628507"/>
            <a:ext cx="10914679" cy="400109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PROBLEM STATEMENT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UI development requires a large number of visual assets, which increases development time when created manually.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Current design workflows lack automated systems that generate interface images from simple text input.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 AI-driven Text-to-Image approach is required to generate reusable UI visuals efficiently.</a:t>
            </a:r>
            <a:endParaRPr lang="en-IN" sz="2000" dirty="0">
              <a:latin typeface="Times New Roman" panose="02020603050405020304" pitchFamily="18" charset="0"/>
              <a:cs typeface="Times New Roman" panose="02020603050405020304" pitchFamily="18" charset="0"/>
            </a:endParaRPr>
          </a:p>
          <a:p>
            <a:endParaRPr lang="en-IN" dirty="0"/>
          </a:p>
          <a:p>
            <a:endParaRPr lang="en-IN" dirty="0"/>
          </a:p>
          <a:p>
            <a:r>
              <a:rPr lang="en-US" sz="2000" b="1" dirty="0">
                <a:latin typeface="Times New Roman" panose="02020603050405020304" pitchFamily="18" charset="0"/>
                <a:cs typeface="Times New Roman" panose="02020603050405020304" pitchFamily="18" charset="0"/>
              </a:rPr>
              <a:t>PROJECT OVERVIEW:</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project implements Text-to-Image generators using Stable Diffusion refined with </a:t>
            </a:r>
            <a:r>
              <a:rPr lang="en-US" sz="2000" dirty="0" err="1">
                <a:latin typeface="Times New Roman" panose="02020603050405020304" pitchFamily="18" charset="0"/>
                <a:cs typeface="Times New Roman" panose="02020603050405020304" pitchFamily="18" charset="0"/>
              </a:rPr>
              <a:t>DreamBooth</a:t>
            </a:r>
            <a:r>
              <a:rPr lang="en-US" sz="2000" dirty="0">
                <a:latin typeface="Times New Roman" panose="02020603050405020304" pitchFamily="18" charset="0"/>
                <a:cs typeface="Times New Roman" panose="02020603050405020304" pitchFamily="18" charset="0"/>
              </a:rPr>
              <a:t> technology. The system generates images in predefined styles such as Alegria style and Icon style, which are directly used in usability interface development. The approach aims to reduce dependency on manual illustration and significantly improve efficiency</a:t>
            </a:r>
          </a:p>
        </p:txBody>
      </p:sp>
    </p:spTree>
    <p:extLst>
      <p:ext uri="{BB962C8B-B14F-4D97-AF65-F5344CB8AC3E}">
        <p14:creationId xmlns:p14="http://schemas.microsoft.com/office/powerpoint/2010/main" val="2149536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976" y="485192"/>
            <a:ext cx="9404723" cy="695778"/>
          </a:xfrm>
        </p:spPr>
        <p:txBody>
          <a:bodyPr>
            <a:normAutofit/>
          </a:bodyPr>
          <a:lstStyle/>
          <a:p>
            <a:pPr marL="0" indent="0" algn="ctr">
              <a:buNone/>
            </a:pPr>
            <a:r>
              <a:rPr lang="en-US" sz="3600" b="1" dirty="0">
                <a:solidFill>
                  <a:srgbClr val="6666FF"/>
                </a:solidFill>
                <a:effectLst/>
                <a:latin typeface="Times New Roman" panose="02020603050405020304" pitchFamily="18" charset="0"/>
                <a:cs typeface="Times New Roman" panose="02020603050405020304" pitchFamily="18" charset="0"/>
              </a:rPr>
              <a:t>PLAN OF ACTION</a:t>
            </a:r>
            <a:endParaRPr lang="en-IN" sz="3600" b="1" dirty="0">
              <a:solidFill>
                <a:srgbClr val="6666FF"/>
              </a:solidFill>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3"/>
          </p:nvPr>
        </p:nvSpPr>
        <p:spPr>
          <a:xfrm>
            <a:off x="0" y="1291772"/>
            <a:ext cx="9470037" cy="5081036"/>
          </a:xfrm>
          <a:prstGeom prst="rect">
            <a:avLst/>
          </a:prstGeom>
        </p:spPr>
        <p:txBody>
          <a:bodyPr anchor="ctr">
            <a:normAutofit/>
          </a:bodyPr>
          <a:lstStyle/>
          <a:p>
            <a:pPr marL="45720" indent="0">
              <a:buNone/>
            </a:pPr>
            <a:r>
              <a:rPr lang="en-US" sz="2900" b="1" dirty="0">
                <a:latin typeface="Times New Roman" panose="02020603050405020304" pitchFamily="18" charset="0"/>
                <a:cs typeface="Times New Roman" panose="02020603050405020304" pitchFamily="18" charset="0"/>
              </a:rPr>
              <a:t>Step-by-Step Plan : </a:t>
            </a:r>
          </a:p>
          <a:p>
            <a:pPr marL="45720" indent="0">
              <a:buNone/>
            </a:pPr>
            <a:r>
              <a:rPr lang="en-US" sz="29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Text-to-Image Generation techniques and diffusion models are studied..</a:t>
            </a:r>
          </a:p>
          <a:p>
            <a:pPr marL="45720" indent="0">
              <a:buNone/>
            </a:pPr>
            <a:r>
              <a:rPr lang="en-US" sz="2000" dirty="0">
                <a:latin typeface="Times New Roman" panose="02020603050405020304" pitchFamily="18" charset="0"/>
                <a:cs typeface="Times New Roman" panose="02020603050405020304" pitchFamily="18" charset="0"/>
              </a:rPr>
              <a:t>• Select Pre-trained Model A pre-trained Stable Diffusion model is selected.</a:t>
            </a:r>
          </a:p>
          <a:p>
            <a:pPr marL="45720" indent="0">
              <a:buNone/>
            </a:pPr>
            <a:r>
              <a:rPr lang="en-US" sz="2000" dirty="0">
                <a:latin typeface="Times New Roman" panose="02020603050405020304" pitchFamily="18" charset="0"/>
                <a:cs typeface="Times New Roman" panose="02020603050405020304" pitchFamily="18" charset="0"/>
              </a:rPr>
              <a:t>• Define Style Requirements Required visual styles for the usability interface are identified.</a:t>
            </a:r>
          </a:p>
          <a:p>
            <a:pPr marL="45720" indent="0">
              <a:buNone/>
            </a:pPr>
            <a:r>
              <a:rPr lang="en-US" sz="2000" dirty="0">
                <a:latin typeface="Times New Roman" panose="02020603050405020304" pitchFamily="18" charset="0"/>
                <a:cs typeface="Times New Roman" panose="02020603050405020304" pitchFamily="18" charset="0"/>
              </a:rPr>
              <a:t>• Create Text Prompts Style-specific text prompts are designed.</a:t>
            </a:r>
          </a:p>
          <a:p>
            <a:pPr marL="45720" indent="0">
              <a:buNone/>
            </a:pPr>
            <a:r>
              <a:rPr lang="en-US" sz="2000" dirty="0">
                <a:latin typeface="Times New Roman" panose="02020603050405020304" pitchFamily="18" charset="0"/>
                <a:cs typeface="Times New Roman" panose="02020603050405020304" pitchFamily="18" charset="0"/>
              </a:rPr>
              <a:t>• Apply Dream Booth Fine-Tuning Dream Booth is applied to fine-tune the pre-trained model.</a:t>
            </a:r>
          </a:p>
          <a:p>
            <a:pPr marL="45720" indent="0">
              <a:buNone/>
            </a:pPr>
            <a:r>
              <a:rPr lang="en-US" sz="2000" dirty="0">
                <a:latin typeface="Times New Roman" panose="02020603050405020304" pitchFamily="18" charset="0"/>
                <a:cs typeface="Times New Roman" panose="02020603050405020304" pitchFamily="18" charset="0"/>
              </a:rPr>
              <a:t>• Generate Images are generated using the fine-tuned model.</a:t>
            </a:r>
          </a:p>
          <a:p>
            <a:pPr marL="45720" indent="0">
              <a:buNone/>
            </a:pPr>
            <a:r>
              <a:rPr lang="en-US" sz="2000" dirty="0">
                <a:latin typeface="Times New Roman" panose="02020603050405020304" pitchFamily="18" charset="0"/>
                <a:cs typeface="Times New Roman" panose="02020603050405020304" pitchFamily="18" charset="0"/>
              </a:rPr>
              <a:t>• Evaluate Results Generated images are evaluated for quality.</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AutoShape 6">
            <a:extLst>
              <a:ext uri="{FF2B5EF4-FFF2-40B4-BE49-F238E27FC236}">
                <a16:creationId xmlns:a16="http://schemas.microsoft.com/office/drawing/2014/main" id="{C347738F-2328-B906-F7B8-C17A7CA94D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45E42FDB-0B01-B768-B656-FE34D8A72F50}"/>
              </a:ext>
            </a:extLst>
          </p:cNvPr>
          <p:cNvPicPr>
            <a:picLocks noChangeAspect="1"/>
          </p:cNvPicPr>
          <p:nvPr/>
        </p:nvPicPr>
        <p:blipFill>
          <a:blip r:embed="rId2"/>
          <a:srcRect b="11196"/>
          <a:stretch>
            <a:fillRect/>
          </a:stretch>
        </p:blipFill>
        <p:spPr>
          <a:xfrm>
            <a:off x="9260540" y="1500088"/>
            <a:ext cx="2931460" cy="4425583"/>
          </a:xfrm>
          <a:prstGeom prst="rect">
            <a:avLst/>
          </a:prstGeom>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A4C71D-9CAD-F24C-91EA-F8E098D92EE2}"/>
              </a:ext>
            </a:extLst>
          </p:cNvPr>
          <p:cNvSpPr txBox="1"/>
          <p:nvPr/>
        </p:nvSpPr>
        <p:spPr>
          <a:xfrm>
            <a:off x="4200628" y="302344"/>
            <a:ext cx="3117388"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WORKFLOW</a:t>
            </a: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48AC2F-78CF-3F42-7071-083858E11362}"/>
              </a:ext>
            </a:extLst>
          </p:cNvPr>
          <p:cNvSpPr txBox="1"/>
          <p:nvPr/>
        </p:nvSpPr>
        <p:spPr>
          <a:xfrm>
            <a:off x="690465" y="1324947"/>
            <a:ext cx="702032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6079C08B-3D0E-FAC0-13F1-9B152E06E324}"/>
              </a:ext>
            </a:extLst>
          </p:cNvPr>
          <p:cNvSpPr>
            <a:spLocks noChangeArrowheads="1"/>
          </p:cNvSpPr>
          <p:nvPr/>
        </p:nvSpPr>
        <p:spPr bwMode="auto">
          <a:xfrm>
            <a:off x="157315" y="923345"/>
            <a:ext cx="11926529"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SOURCES :</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Pre-trained Stable Diffusion models are used for text-to-image generation. The models are accessed and executed using cloud-based platforms without training from scratch.</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Style-specific image generation is achieved by fine-tuning pre-trained models rather than building new datasets.</a:t>
            </a:r>
          </a:p>
          <a:p>
            <a:pPr lvl="0" defTabSz="914400" eaLnBrk="0" fontAlgn="base" hangingPunct="0">
              <a:spcBef>
                <a:spcPct val="0"/>
              </a:spcBef>
              <a:spcAft>
                <a:spcPct val="0"/>
              </a:spcAft>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ALGORITHMS USED</a:t>
            </a:r>
          </a:p>
          <a:p>
            <a:pPr marL="502920" indent="-457200">
              <a:buFont typeface="+mj-lt"/>
              <a:buAutoNum type="arabicPeriod"/>
            </a:pPr>
            <a:r>
              <a:rPr lang="en-US" sz="2000" b="1" dirty="0">
                <a:latin typeface="Times New Roman" panose="02020603050405020304" pitchFamily="18" charset="0"/>
                <a:cs typeface="Times New Roman" panose="02020603050405020304" pitchFamily="18" charset="0"/>
              </a:rPr>
              <a:t>Stable Diffusion (Pre-trained Model)                                                                                                                </a:t>
            </a:r>
            <a:r>
              <a:rPr lang="en-US" sz="2000" dirty="0">
                <a:latin typeface="Times New Roman" panose="02020603050405020304" pitchFamily="18" charset="0"/>
                <a:cs typeface="Times New Roman" panose="02020603050405020304" pitchFamily="18" charset="0"/>
              </a:rPr>
              <a:t>A pre-trained diffusion-based deep learning model used for text-to-image generation. Converts textual prompts into high-quality images efficiently. Eliminates the need for training large datasets from scratch.</a:t>
            </a:r>
          </a:p>
          <a:p>
            <a:pPr marL="502920" indent="-457200">
              <a:buFont typeface="+mj-lt"/>
              <a:buAutoNum type="arabicPeriod"/>
            </a:pPr>
            <a:r>
              <a:rPr lang="en-US" sz="2000" b="1" dirty="0">
                <a:latin typeface="Times New Roman" panose="02020603050405020304" pitchFamily="18" charset="0"/>
                <a:cs typeface="Times New Roman" panose="02020603050405020304" pitchFamily="18" charset="0"/>
              </a:rPr>
              <a:t>Dream Booth                                                                                                                                                         </a:t>
            </a:r>
            <a:r>
              <a:rPr lang="en-US" sz="2000" dirty="0">
                <a:latin typeface="Times New Roman" panose="02020603050405020304" pitchFamily="18" charset="0"/>
                <a:cs typeface="Times New Roman" panose="02020603050405020304" pitchFamily="18" charset="0"/>
              </a:rPr>
              <a:t>A fine-tuning technique applied on pre-trained Stable Diffusion </a:t>
            </a:r>
            <a:r>
              <a:rPr lang="en-US" sz="2000" dirty="0" err="1">
                <a:latin typeface="Times New Roman" panose="02020603050405020304" pitchFamily="18" charset="0"/>
                <a:cs typeface="Times New Roman" panose="02020603050405020304" pitchFamily="18" charset="0"/>
              </a:rPr>
              <a:t>models.Allows</a:t>
            </a:r>
            <a:r>
              <a:rPr lang="en-US" sz="2000" dirty="0">
                <a:latin typeface="Times New Roman" panose="02020603050405020304" pitchFamily="18" charset="0"/>
                <a:cs typeface="Times New Roman" panose="02020603050405020304" pitchFamily="18" charset="0"/>
              </a:rPr>
              <a:t> learning specific visual styles with minimal input </a:t>
            </a:r>
            <a:r>
              <a:rPr lang="en-US" sz="2000" dirty="0" err="1">
                <a:latin typeface="Times New Roman" panose="02020603050405020304" pitchFamily="18" charset="0"/>
                <a:cs typeface="Times New Roman" panose="02020603050405020304" pitchFamily="18" charset="0"/>
              </a:rPr>
              <a:t>images.Improves</a:t>
            </a:r>
            <a:r>
              <a:rPr lang="en-US" sz="2000" dirty="0">
                <a:latin typeface="Times New Roman" panose="02020603050405020304" pitchFamily="18" charset="0"/>
                <a:cs typeface="Times New Roman" panose="02020603050405020304" pitchFamily="18" charset="0"/>
              </a:rPr>
              <a:t> usability interface design while reducing cost and development time..</a:t>
            </a:r>
          </a:p>
          <a:p>
            <a:pPr marL="4572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407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4437F428-613D-BDBE-4052-0319CD1A133C}"/>
              </a:ext>
            </a:extLst>
          </p:cNvPr>
          <p:cNvSpPr txBox="1"/>
          <p:nvPr/>
        </p:nvSpPr>
        <p:spPr>
          <a:xfrm>
            <a:off x="1054359" y="1875453"/>
            <a:ext cx="9993086" cy="2031325"/>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p:txBody>
      </p:sp>
      <p:sp>
        <p:nvSpPr>
          <p:cNvPr id="24" name="TextBox 23">
            <a:extLst>
              <a:ext uri="{FF2B5EF4-FFF2-40B4-BE49-F238E27FC236}">
                <a16:creationId xmlns:a16="http://schemas.microsoft.com/office/drawing/2014/main" id="{95E3B667-4AA4-8E05-2CB8-E2D78EE28A0D}"/>
              </a:ext>
            </a:extLst>
          </p:cNvPr>
          <p:cNvSpPr txBox="1"/>
          <p:nvPr/>
        </p:nvSpPr>
        <p:spPr>
          <a:xfrm>
            <a:off x="895739" y="1536174"/>
            <a:ext cx="10991462" cy="440120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TECHNOLOGIES USED : </a:t>
            </a:r>
          </a:p>
          <a:p>
            <a:r>
              <a:rPr lang="en-IN" sz="2000" dirty="0">
                <a:latin typeface="Times New Roman" panose="02020603050405020304" pitchFamily="18" charset="0"/>
                <a:cs typeface="Times New Roman" panose="02020603050405020304" pitchFamily="18" charset="0"/>
              </a:rPr>
              <a:t>Backend:</a:t>
            </a:r>
          </a:p>
          <a:p>
            <a:pPr marL="457200" indent="-457200">
              <a:buFont typeface="+mj-lt"/>
              <a:buAutoNum type="arabicPeriod"/>
            </a:pPr>
            <a:r>
              <a:rPr lang="en-IN" sz="2000" b="1" dirty="0">
                <a:latin typeface="Times New Roman" panose="02020603050405020304" pitchFamily="18" charset="0"/>
                <a:cs typeface="Times New Roman" panose="02020603050405020304" pitchFamily="18" charset="0"/>
              </a:rPr>
              <a:t>Python</a:t>
            </a: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Programming language used for implementing text-to-image generation logic.</a:t>
            </a:r>
          </a:p>
          <a:p>
            <a:pPr marL="457200" indent="-457200">
              <a:buFont typeface="+mj-lt"/>
              <a:buAutoNum type="arabicPeriod"/>
            </a:pPr>
            <a:r>
              <a:rPr lang="en-IN" sz="2000" b="1" dirty="0">
                <a:latin typeface="Times New Roman" panose="02020603050405020304" pitchFamily="18" charset="0"/>
                <a:cs typeface="Times New Roman" panose="02020603050405020304" pitchFamily="18" charset="0"/>
              </a:rPr>
              <a:t>Django</a:t>
            </a: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 Web framework used to build the server and integrate image generation into the website.</a:t>
            </a:r>
          </a:p>
          <a:p>
            <a:r>
              <a:rPr lang="en-IN" sz="2000" dirty="0">
                <a:latin typeface="Times New Roman" panose="02020603050405020304" pitchFamily="18" charset="0"/>
                <a:cs typeface="Times New Roman" panose="02020603050405020304" pitchFamily="18" charset="0"/>
              </a:rPr>
              <a:t>Frontend:</a:t>
            </a:r>
          </a:p>
          <a:p>
            <a:pPr marL="457200" indent="-457200">
              <a:buFont typeface="+mj-lt"/>
              <a:buAutoNum type="arabicPeriod"/>
            </a:pPr>
            <a:r>
              <a:rPr lang="en-IN" sz="2000" b="1" dirty="0">
                <a:latin typeface="Times New Roman" panose="02020603050405020304" pitchFamily="18" charset="0"/>
                <a:cs typeface="Times New Roman" panose="02020603050405020304" pitchFamily="18" charset="0"/>
              </a:rPr>
              <a:t>HTML</a:t>
            </a:r>
            <a:r>
              <a:rPr lang="en-IN" sz="2000" dirty="0">
                <a:latin typeface="Times New Roman" panose="02020603050405020304" pitchFamily="18" charset="0"/>
                <a:cs typeface="Times New Roman" panose="02020603050405020304" pitchFamily="18" charset="0"/>
              </a:rPr>
              <a:t> – Structure of the web pages.</a:t>
            </a:r>
          </a:p>
          <a:p>
            <a:pPr marL="457200" indent="-457200">
              <a:buFont typeface="+mj-lt"/>
              <a:buAutoNum type="arabicPeriod"/>
            </a:pPr>
            <a:r>
              <a:rPr lang="en-IN" sz="2000" b="1" dirty="0">
                <a:latin typeface="Times New Roman" panose="02020603050405020304" pitchFamily="18" charset="0"/>
                <a:cs typeface="Times New Roman" panose="02020603050405020304" pitchFamily="18" charset="0"/>
              </a:rPr>
              <a:t>CSS</a:t>
            </a:r>
            <a:r>
              <a:rPr lang="en-IN" sz="2000" dirty="0">
                <a:latin typeface="Times New Roman" panose="02020603050405020304" pitchFamily="18" charset="0"/>
                <a:cs typeface="Times New Roman" panose="02020603050405020304" pitchFamily="18" charset="0"/>
              </a:rPr>
              <a:t> – Styling and layout of the pages.</a:t>
            </a:r>
          </a:p>
          <a:p>
            <a:pPr marL="457200" indent="-457200">
              <a:buFont typeface="+mj-lt"/>
              <a:buAutoNum type="arabicPeriod"/>
            </a:pPr>
            <a:r>
              <a:rPr lang="en-IN" sz="2000" b="1" dirty="0">
                <a:latin typeface="Times New Roman" panose="02020603050405020304" pitchFamily="18" charset="0"/>
                <a:cs typeface="Times New Roman" panose="02020603050405020304" pitchFamily="18" charset="0"/>
              </a:rPr>
              <a:t>JavaScript</a:t>
            </a:r>
            <a:r>
              <a:rPr lang="en-IN" sz="2000" dirty="0">
                <a:latin typeface="Times New Roman" panose="02020603050405020304" pitchFamily="18" charset="0"/>
                <a:cs typeface="Times New Roman" panose="02020603050405020304" pitchFamily="18" charset="0"/>
              </a:rPr>
              <a:t> – Adds interactivity to the web pages.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EXTENSIVE LIBRARIES</a:t>
            </a:r>
          </a:p>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Stable Diffusion – </a:t>
            </a:r>
            <a:r>
              <a:rPr lang="en-US" altLang="en-US" sz="2000" dirty="0">
                <a:latin typeface="Times New Roman" panose="02020603050405020304" pitchFamily="18" charset="0"/>
                <a:cs typeface="Times New Roman" panose="02020603050405020304" pitchFamily="18" charset="0"/>
              </a:rPr>
              <a:t>Pre-trained diffusion model used for text-to-image generation.</a:t>
            </a:r>
          </a:p>
          <a:p>
            <a:pPr marL="342900" indent="-342900">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DreamBooth</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Fine-tuning technique applied to adapt the pre-trained model for specific styles</a:t>
            </a:r>
            <a:r>
              <a:rPr lang="en-US" sz="2000" b="1"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PyTorch</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Deep learning framework used to run and fine-tune diffusion models.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Matplotlib – </a:t>
            </a:r>
            <a:r>
              <a:rPr lang="en-US" sz="2000" dirty="0">
                <a:latin typeface="Times New Roman" panose="02020603050405020304" pitchFamily="18" charset="0"/>
                <a:cs typeface="Times New Roman" panose="02020603050405020304" pitchFamily="18" charset="0"/>
              </a:rPr>
              <a:t>Used for visualization and analysis of generated images</a:t>
            </a:r>
            <a:r>
              <a:rPr lang="en-US"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7" name="Rectangle 16">
            <a:extLst>
              <a:ext uri="{FF2B5EF4-FFF2-40B4-BE49-F238E27FC236}">
                <a16:creationId xmlns:a16="http://schemas.microsoft.com/office/drawing/2014/main" id="{E859EA8E-FDB1-D589-064D-4CB50CB596CA}"/>
              </a:ext>
            </a:extLst>
          </p:cNvPr>
          <p:cNvSpPr>
            <a:spLocks noChangeArrowheads="1"/>
          </p:cNvSpPr>
          <p:nvPr/>
        </p:nvSpPr>
        <p:spPr bwMode="auto">
          <a:xfrm>
            <a:off x="2341983" y="1875452"/>
            <a:ext cx="792169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C330B12-4340-0F0E-C901-F3C79D9CECED}"/>
              </a:ext>
            </a:extLst>
          </p:cNvPr>
          <p:cNvSpPr txBox="1"/>
          <p:nvPr/>
        </p:nvSpPr>
        <p:spPr>
          <a:xfrm>
            <a:off x="528186" y="439426"/>
            <a:ext cx="12182844"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TECHNOLOGIES &amp; EXTENSIVE LIBRARIES USED</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D73B06D0-BFA6-6E50-7148-C96F330DD349}"/>
              </a:ext>
            </a:extLst>
          </p:cNvPr>
          <p:cNvSpPr>
            <a:spLocks noChangeArrowheads="1"/>
          </p:cNvSpPr>
          <p:nvPr/>
        </p:nvSpPr>
        <p:spPr bwMode="auto">
          <a:xfrm>
            <a:off x="326571" y="1295939"/>
            <a:ext cx="135317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532992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BFE83E7-6E0B-4FBC-AA71-DF48959B5C19}"/>
              </a:ext>
            </a:extLst>
          </p:cNvPr>
          <p:cNvSpPr txBox="1"/>
          <p:nvPr/>
        </p:nvSpPr>
        <p:spPr>
          <a:xfrm>
            <a:off x="556729" y="1305483"/>
            <a:ext cx="11737909" cy="5576976"/>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Text Prompt Design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 prompts are carefully designed to describe the required image content and visual style.</a:t>
            </a:r>
          </a:p>
          <a:p>
            <a:pPr>
              <a:lnSpc>
                <a:spcPct val="150000"/>
              </a:lnSpc>
            </a:pPr>
            <a:r>
              <a:rPr lang="en-US" sz="2000" b="1" dirty="0">
                <a:latin typeface="Times New Roman" panose="02020603050405020304" pitchFamily="18" charset="0"/>
                <a:cs typeface="Times New Roman" panose="02020603050405020304" pitchFamily="18" charset="0"/>
              </a:rPr>
              <a:t>Data Pre-trained Model Selection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pre-trained Stable Diffusion model is selected to avoid training from scratch.</a:t>
            </a:r>
          </a:p>
          <a:p>
            <a:pPr>
              <a:lnSpc>
                <a:spcPct val="150000"/>
              </a:lnSpc>
            </a:pPr>
            <a:r>
              <a:rPr lang="en-US" sz="2000" b="1" dirty="0">
                <a:latin typeface="Times New Roman" panose="02020603050405020304" pitchFamily="18" charset="0"/>
                <a:cs typeface="Times New Roman" panose="02020603050405020304" pitchFamily="18" charset="0"/>
              </a:rPr>
              <a:t>Dream Booth Fine-Tuning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Dream Booth technique is applied to fine-tune the pre-trained model for specific styles</a:t>
            </a:r>
          </a:p>
          <a:p>
            <a:pPr>
              <a:lnSpc>
                <a:spcPct val="150000"/>
              </a:lnSpc>
            </a:pPr>
            <a:r>
              <a:rPr lang="en-US" sz="2000" b="1" dirty="0">
                <a:latin typeface="Times New Roman" panose="02020603050405020304" pitchFamily="18" charset="0"/>
                <a:cs typeface="Times New Roman" panose="02020603050405020304" pitchFamily="18" charset="0"/>
              </a:rPr>
              <a:t>Image Generation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Images are generated using the fine-tuned diffusion model based on user prompts.</a:t>
            </a:r>
          </a:p>
          <a:p>
            <a:pPr>
              <a:lnSpc>
                <a:spcPct val="150000"/>
              </a:lnSpc>
            </a:pPr>
            <a:r>
              <a:rPr lang="en-US" sz="2000" b="1" dirty="0">
                <a:latin typeface="Times New Roman" panose="02020603050405020304" pitchFamily="18" charset="0"/>
                <a:cs typeface="Times New Roman" panose="02020603050405020304" pitchFamily="18" charset="0"/>
              </a:rPr>
              <a:t>Web Integration</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image generation process is integrated into a web application using Django.</a:t>
            </a:r>
          </a:p>
          <a:p>
            <a:pPr>
              <a:lnSpc>
                <a:spcPct val="150000"/>
              </a:lnSpc>
            </a:pPr>
            <a:r>
              <a:rPr lang="en-US" sz="2000" b="1" dirty="0">
                <a:latin typeface="Times New Roman" panose="02020603050405020304" pitchFamily="18" charset="0"/>
                <a:cs typeface="Times New Roman" panose="02020603050405020304" pitchFamily="18" charset="0"/>
              </a:rPr>
              <a:t>Result Analysis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Generated images are reviewed to evaluate visual quality and usability interface suitability.</a:t>
            </a:r>
          </a:p>
        </p:txBody>
      </p:sp>
      <p:sp>
        <p:nvSpPr>
          <p:cNvPr id="2" name="TextBox 1">
            <a:extLst>
              <a:ext uri="{FF2B5EF4-FFF2-40B4-BE49-F238E27FC236}">
                <a16:creationId xmlns:a16="http://schemas.microsoft.com/office/drawing/2014/main" id="{9518D155-D4B4-F750-DEA8-0BD744A1E764}"/>
              </a:ext>
            </a:extLst>
          </p:cNvPr>
          <p:cNvSpPr txBox="1"/>
          <p:nvPr/>
        </p:nvSpPr>
        <p:spPr>
          <a:xfrm>
            <a:off x="2528687" y="445198"/>
            <a:ext cx="7134625"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METHODS USED IN PROJECT</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84185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21C3435-DBFF-A47C-F080-DEF748D836CD}"/>
              </a:ext>
            </a:extLst>
          </p:cNvPr>
          <p:cNvSpPr txBox="1"/>
          <p:nvPr/>
        </p:nvSpPr>
        <p:spPr>
          <a:xfrm>
            <a:off x="3053671" y="762366"/>
            <a:ext cx="10608907"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EVALUATION METRICS </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67DC931-421D-D48B-614E-8FDF167C66B3}"/>
              </a:ext>
            </a:extLst>
          </p:cNvPr>
          <p:cNvSpPr txBox="1"/>
          <p:nvPr/>
        </p:nvSpPr>
        <p:spPr>
          <a:xfrm>
            <a:off x="1277008" y="2313172"/>
            <a:ext cx="9405259" cy="1883657"/>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Evaluation Metrics:</a:t>
            </a:r>
          </a:p>
          <a:p>
            <a:pPr algn="just">
              <a:lnSpc>
                <a:spcPct val="150000"/>
              </a:lnSpc>
            </a:pPr>
            <a:r>
              <a:rPr lang="en-US" sz="2000" dirty="0">
                <a:latin typeface="Times New Roman" panose="02020603050405020304" pitchFamily="18" charset="0"/>
                <a:cs typeface="Times New Roman" panose="02020603050405020304" pitchFamily="18" charset="0"/>
              </a:rPr>
              <a:t>The realism of generated images is evaluated using qualitative visual inspection, ensuring that the images closely resemble professionally designed interface elements and meet usability requirements</a:t>
            </a: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4065085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12C9-7CF1-778B-E068-FC868073532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6FD11D6-188A-1EBD-9BC0-D111DAEF07D6}"/>
              </a:ext>
            </a:extLst>
          </p:cNvPr>
          <p:cNvSpPr txBox="1"/>
          <p:nvPr/>
        </p:nvSpPr>
        <p:spPr>
          <a:xfrm>
            <a:off x="3295718" y="367919"/>
            <a:ext cx="10608907"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VISUALIZATIONS </a:t>
            </a:r>
            <a:endParaRPr lang="en-IN" sz="3600"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F9EB0D0-427F-5191-3D11-62DBE19E8239}"/>
              </a:ext>
            </a:extLst>
          </p:cNvPr>
          <p:cNvSpPr txBox="1"/>
          <p:nvPr/>
        </p:nvSpPr>
        <p:spPr>
          <a:xfrm>
            <a:off x="1653526" y="1362913"/>
            <a:ext cx="9405259" cy="1421992"/>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Visualizations:</a:t>
            </a:r>
          </a:p>
          <a:p>
            <a:pPr>
              <a:lnSpc>
                <a:spcPct val="150000"/>
              </a:lnSpc>
            </a:pPr>
            <a:r>
              <a:rPr lang="en-US" sz="2000" dirty="0">
                <a:latin typeface="Times New Roman" panose="02020603050405020304" pitchFamily="18" charset="0"/>
                <a:cs typeface="Times New Roman" panose="02020603050405020304" pitchFamily="18" charset="0"/>
              </a:rPr>
              <a:t>Displays images generated from text prompts to visually assess realism, clarity, and style consistency.</a:t>
            </a:r>
          </a:p>
        </p:txBody>
      </p:sp>
      <p:pic>
        <p:nvPicPr>
          <p:cNvPr id="3" name="Picture 2">
            <a:extLst>
              <a:ext uri="{FF2B5EF4-FFF2-40B4-BE49-F238E27FC236}">
                <a16:creationId xmlns:a16="http://schemas.microsoft.com/office/drawing/2014/main" id="{63F9DFC4-A12E-20E8-7D7B-9C0DCCB4AE07}"/>
              </a:ext>
            </a:extLst>
          </p:cNvPr>
          <p:cNvPicPr>
            <a:picLocks noChangeAspect="1"/>
          </p:cNvPicPr>
          <p:nvPr/>
        </p:nvPicPr>
        <p:blipFill>
          <a:blip r:embed="rId2"/>
          <a:stretch>
            <a:fillRect/>
          </a:stretch>
        </p:blipFill>
        <p:spPr>
          <a:xfrm>
            <a:off x="1960944" y="3296903"/>
            <a:ext cx="8733950" cy="3023215"/>
          </a:xfrm>
          <a:prstGeom prst="rect">
            <a:avLst/>
          </a:prstGeom>
        </p:spPr>
      </p:pic>
    </p:spTree>
    <p:extLst>
      <p:ext uri="{BB962C8B-B14F-4D97-AF65-F5344CB8AC3E}">
        <p14:creationId xmlns:p14="http://schemas.microsoft.com/office/powerpoint/2010/main" val="2335179193"/>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DC7FBF-4737-7508-9281-E49A9B4FE73F}"/>
              </a:ext>
            </a:extLst>
          </p:cNvPr>
          <p:cNvSpPr txBox="1"/>
          <p:nvPr/>
        </p:nvSpPr>
        <p:spPr>
          <a:xfrm>
            <a:off x="1885987" y="1410355"/>
            <a:ext cx="7776488" cy="4653390"/>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Existing Methods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Relied on manual illustration or third-party designers.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Required skilled artists and longer development time..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Increased development cost and dependency on external resources.</a:t>
            </a:r>
          </a:p>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Proposed Method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pre-trained Stable Diffusion with Dream Booth fine-tuning.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Generates images quickly using text prompts without manual drawing.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development time and overall cost significantly.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Produces high-quality, style-specific images for usability interfaces.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 be easily integrated into web applications using Django.</a:t>
            </a:r>
            <a:endParaRPr lang="en-IN" dirty="0"/>
          </a:p>
        </p:txBody>
      </p:sp>
      <p:sp>
        <p:nvSpPr>
          <p:cNvPr id="7" name="TextBox 6">
            <a:extLst>
              <a:ext uri="{FF2B5EF4-FFF2-40B4-BE49-F238E27FC236}">
                <a16:creationId xmlns:a16="http://schemas.microsoft.com/office/drawing/2014/main" id="{3BD0BD5B-C609-077F-4ECD-255B4F685B8C}"/>
              </a:ext>
            </a:extLst>
          </p:cNvPr>
          <p:cNvSpPr txBox="1"/>
          <p:nvPr/>
        </p:nvSpPr>
        <p:spPr>
          <a:xfrm>
            <a:off x="2181169" y="471089"/>
            <a:ext cx="8065490" cy="646331"/>
          </a:xfrm>
          <a:prstGeom prst="rect">
            <a:avLst/>
          </a:prstGeom>
          <a:noFill/>
        </p:spPr>
        <p:txBody>
          <a:bodyPr wrap="square" rtlCol="0">
            <a:spAutoFit/>
          </a:bodyPr>
          <a:lstStyle/>
          <a:p>
            <a:r>
              <a:rPr lang="en-US" sz="3600" b="1" dirty="0">
                <a:solidFill>
                  <a:schemeClr val="bg2">
                    <a:lumMod val="50000"/>
                  </a:schemeClr>
                </a:solidFill>
                <a:latin typeface="+mj-lt"/>
              </a:rPr>
              <a:t>EXISTING VS PROPOSED METHODS</a:t>
            </a:r>
            <a:endParaRPr lang="en-IN" sz="3600" b="1" dirty="0">
              <a:solidFill>
                <a:schemeClr val="bg2">
                  <a:lumMod val="50000"/>
                </a:schemeClr>
              </a:solidFill>
              <a:latin typeface="+mj-lt"/>
            </a:endParaRPr>
          </a:p>
        </p:txBody>
      </p:sp>
    </p:spTree>
    <p:extLst>
      <p:ext uri="{BB962C8B-B14F-4D97-AF65-F5344CB8AC3E}">
        <p14:creationId xmlns:p14="http://schemas.microsoft.com/office/powerpoint/2010/main" val="55556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BA3080-905D-1249-8622-B41C570E3494}"/>
              </a:ext>
            </a:extLst>
          </p:cNvPr>
          <p:cNvSpPr txBox="1"/>
          <p:nvPr/>
        </p:nvSpPr>
        <p:spPr>
          <a:xfrm>
            <a:off x="3923615" y="566779"/>
            <a:ext cx="3967292" cy="646331"/>
          </a:xfrm>
          <a:prstGeom prst="rect">
            <a:avLst/>
          </a:prstGeom>
          <a:noFill/>
        </p:spPr>
        <p:txBody>
          <a:bodyPr wrap="square" rtlCol="0">
            <a:spAutoFit/>
          </a:bodyPr>
          <a:lstStyle/>
          <a:p>
            <a:r>
              <a:rPr lang="en-US" sz="3600" b="1" dirty="0">
                <a:solidFill>
                  <a:schemeClr val="bg2">
                    <a:lumMod val="50000"/>
                  </a:schemeClr>
                </a:solidFill>
                <a:latin typeface="Times New Roman" panose="02020603050405020304" pitchFamily="18" charset="0"/>
                <a:cs typeface="Times New Roman" panose="02020603050405020304" pitchFamily="18" charset="0"/>
              </a:rPr>
              <a:t>CONCLUSION</a:t>
            </a:r>
            <a:r>
              <a:rPr lang="en-US"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1024EEA-7F6C-F5F6-256C-89D2B7CC70EB}"/>
              </a:ext>
            </a:extLst>
          </p:cNvPr>
          <p:cNvSpPr txBox="1"/>
          <p:nvPr/>
        </p:nvSpPr>
        <p:spPr>
          <a:xfrm>
            <a:off x="1073020" y="1797784"/>
            <a:ext cx="10272032" cy="1938992"/>
          </a:xfrm>
          <a:prstGeom prst="rect">
            <a:avLst/>
          </a:prstGeom>
          <a:noFill/>
        </p:spPr>
        <p:txBody>
          <a:bodyPr wrap="square" rtlCol="0">
            <a:spAutoFit/>
          </a:bodyPr>
          <a:lstStyle/>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project shows how text-to-image generation using pre-trained Stable Diffusion and </a:t>
            </a:r>
            <a:r>
              <a:rPr lang="en-US" sz="2000" dirty="0" err="1">
                <a:latin typeface="Times New Roman" panose="02020603050405020304" pitchFamily="18" charset="0"/>
                <a:cs typeface="Times New Roman" panose="02020603050405020304" pitchFamily="18" charset="0"/>
              </a:rPr>
              <a:t>DreamBooth</a:t>
            </a:r>
            <a:r>
              <a:rPr lang="en-US" sz="2000" dirty="0">
                <a:latin typeface="Times New Roman" panose="02020603050405020304" pitchFamily="18" charset="0"/>
                <a:cs typeface="Times New Roman" panose="02020603050405020304" pitchFamily="18" charset="0"/>
              </a:rPr>
              <a:t> can be effectively used for usability interface development. By generating images directly from text prompts, we reduced manual design effort and dependency on external designers. The approach improves development efficiency while still producing realistic and visually consistent images. Overall, this project demonstrates the practical usefulness of AI-based image generation in modern web application development.</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887CDB8-8AA7-6937-033A-E944F9F482B3}"/>
              </a:ext>
            </a:extLst>
          </p:cNvPr>
          <p:cNvSpPr txBox="1"/>
          <p:nvPr/>
        </p:nvSpPr>
        <p:spPr>
          <a:xfrm>
            <a:off x="1073020" y="3952017"/>
            <a:ext cx="10495181" cy="1877437"/>
          </a:xfrm>
          <a:prstGeom prst="rect">
            <a:avLst/>
          </a:prstGeom>
          <a:noFill/>
        </p:spPr>
        <p:txBody>
          <a:bodyPr wrap="none" rtlCol="0">
            <a:spAutoFit/>
          </a:bodyPr>
          <a:lstStyle/>
          <a:p>
            <a:r>
              <a:rPr lang="en-US" sz="2800" b="1" dirty="0">
                <a:solidFill>
                  <a:schemeClr val="bg2">
                    <a:lumMod val="50000"/>
                  </a:schemeClr>
                </a:solidFill>
                <a:latin typeface="Times New Roman" panose="02020603050405020304" pitchFamily="18" charset="0"/>
                <a:cs typeface="Times New Roman" panose="02020603050405020304" pitchFamily="18" charset="0"/>
              </a:rPr>
              <a:t>                         </a:t>
            </a:r>
            <a:r>
              <a:rPr lang="en-US" sz="3600" b="1" dirty="0">
                <a:solidFill>
                  <a:schemeClr val="bg2">
                    <a:lumMod val="50000"/>
                  </a:schemeClr>
                </a:solidFill>
                <a:latin typeface="Times New Roman" panose="02020603050405020304" pitchFamily="18" charset="0"/>
                <a:cs typeface="Times New Roman" panose="02020603050405020304" pitchFamily="18" charset="0"/>
              </a:rPr>
              <a:t>FUTURE ENHANCEMENT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can be extended to support more artistic styles for image generation.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Prompt optimization techniques can be added to improve image quality automatically.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application can be enhanced to generate images in real time for dynamic web content.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Integration with additional web design tools can further improve usability interface development.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10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30709" y="2631866"/>
            <a:ext cx="5345097"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1706</TotalTime>
  <Words>1216</Words>
  <Application>Microsoft Office PowerPoint</Application>
  <PresentationFormat>Widescreen</PresentationFormat>
  <Paragraphs>150</Paragraphs>
  <Slides>13</Slides>
  <Notes>0</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13</vt:i4>
      </vt:variant>
    </vt:vector>
  </HeadingPairs>
  <TitlesOfParts>
    <vt:vector size="32" baseType="lpstr">
      <vt:lpstr>Algerian</vt:lpstr>
      <vt:lpstr>Arial</vt:lpstr>
      <vt:lpstr>Arial Black</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ANNAMACHARYA INSTITUTE OF TECHNOLOGY AND SCIENCES::TIRUPATI (AUTONOMOUS) Artificial Intelligence &amp; Data Science A.Y.: 2025-2026 FIRST REVIEW  A Text-to-image Generators in the Development of the Usability Interface</vt:lpstr>
      <vt:lpstr>PowerPoint Presentation</vt:lpstr>
      <vt:lpstr>PowerPoint Presentation</vt:lpstr>
      <vt:lpstr>PowerPoint Presentation</vt:lpstr>
      <vt:lpstr>PLAN OF 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vasagiri prabhas</cp:lastModifiedBy>
  <cp:revision>148</cp:revision>
  <dcterms:created xsi:type="dcterms:W3CDTF">2021-12-20T13:54:00Z</dcterms:created>
  <dcterms:modified xsi:type="dcterms:W3CDTF">2026-01-23T08:50:20Z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F7B180E6C5A649F49ED6F1C2A21B4EFB_12</vt:lpwstr>
  </property>
  <property fmtid="{D5CDD505-2E9C-101B-9397-08002B2CF9AE}" pid="3" name="KSOProductBuildVer">
    <vt:lpwstr>1033-12.2.0.19307</vt:lpwstr>
  </property>
</Properties>
</file>