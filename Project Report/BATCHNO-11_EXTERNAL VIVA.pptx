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59" r:id="rId1"/>
    <p:sldMasterId id="2147483971" r:id="rId2"/>
    <p:sldMasterId id="2147483983" r:id="rId3"/>
    <p:sldMasterId id="2147483995" r:id="rId4"/>
    <p:sldMasterId id="2147484007" r:id="rId5"/>
  </p:sldMasterIdLst>
  <p:sldIdLst>
    <p:sldId id="256" r:id="rId6"/>
    <p:sldId id="303" r:id="rId7"/>
    <p:sldId id="258" r:id="rId8"/>
    <p:sldId id="275" r:id="rId9"/>
    <p:sldId id="304" r:id="rId10"/>
    <p:sldId id="305" r:id="rId11"/>
    <p:sldId id="293" r:id="rId12"/>
    <p:sldId id="294" r:id="rId13"/>
    <p:sldId id="276" r:id="rId14"/>
    <p:sldId id="302" r:id="rId15"/>
    <p:sldId id="262" r:id="rId16"/>
    <p:sldId id="268" r:id="rId17"/>
    <p:sldId id="285" r:id="rId18"/>
    <p:sldId id="287" r:id="rId19"/>
    <p:sldId id="284" r:id="rId20"/>
    <p:sldId id="295" r:id="rId21"/>
    <p:sldId id="297" r:id="rId22"/>
    <p:sldId id="298" r:id="rId23"/>
    <p:sldId id="299" r:id="rId24"/>
    <p:sldId id="300" r:id="rId25"/>
    <p:sldId id="301" r:id="rId26"/>
    <p:sldId id="29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E0E"/>
    <a:srgbClr val="0033CC"/>
    <a:srgbClr val="6666FF"/>
    <a:srgbClr val="66CCFF"/>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95" d="100"/>
          <a:sy n="95" d="100"/>
        </p:scale>
        <p:origin x="3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AAD347D-5ACD-4C99-B74B-A9C85AD731AF}" type="datetimeFigureOut">
              <a:rPr lang="en-US" smtClean="0"/>
              <a:t>4/30/2026</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a:lstStyle/>
          <a:p>
            <a:fld id="{D57F1E4F-1CFF-5643-939E-02111984F565}" type="slidenum">
              <a:rPr lang="en-US" smtClean="0"/>
              <a:t>‹#›</a:t>
            </a:fld>
            <a:endParaRPr lang="en-US" dirty="0"/>
          </a:p>
        </p:txBody>
      </p:sp>
      <p:sp>
        <p:nvSpPr>
          <p:cNvPr id="32" name="Rectangle 31"/>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a:xfrm>
            <a:off x="412744" y="680477"/>
            <a:ext cx="6096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a:xfrm>
            <a:off x="35876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1" name="Rectangle 40"/>
          <p:cNvSpPr/>
          <p:nvPr/>
        </p:nvSpPr>
        <p:spPr>
          <a:xfrm>
            <a:off x="333360"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95691"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1219200" y="4343400"/>
            <a:ext cx="10363200" cy="1975104"/>
          </a:xfrm>
        </p:spPr>
        <p:txBody>
          <a:bodyPr/>
          <a:lstStyle>
            <a:lvl1pPr marR="9144" algn="l">
              <a:defRPr sz="4000" b="1" cap="all" spc="0" baseline="0">
                <a:effectLst>
                  <a:reflection blurRad="12700" stA="34000" endA="740" endPos="53000" dir="5400000" sy="-100000" algn="bl" rotWithShape="0"/>
                </a:effectLst>
              </a:defRPr>
            </a:lvl1pPr>
            <a:extLst/>
          </a:lstStyle>
          <a:p>
            <a:r>
              <a:rPr kumimoji="0" lang="en-US"/>
              <a:t>Click to edit Master title style</a:t>
            </a:r>
          </a:p>
        </p:txBody>
      </p:sp>
      <p:sp>
        <p:nvSpPr>
          <p:cNvPr id="9" name="Subtitle 8"/>
          <p:cNvSpPr>
            <a:spLocks noGrp="1"/>
          </p:cNvSpPr>
          <p:nvPr>
            <p:ph type="subTitle" idx="1"/>
          </p:nvPr>
        </p:nvSpPr>
        <p:spPr>
          <a:xfrm>
            <a:off x="1219200" y="2834640"/>
            <a:ext cx="103632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56" name="Rectangle 55"/>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5" name="Rectangle 64"/>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6" name="Rectangle 65"/>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7" name="Rectangle 66"/>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6438603" y="1073888"/>
            <a:ext cx="5762848"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a:spLocks/>
          </p:cNvSpPr>
          <p:nvPr/>
        </p:nvSpPr>
        <p:spPr bwMode="auto">
          <a:xfrm>
            <a:off x="498621" y="0"/>
            <a:ext cx="7352715"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5236414">
            <a:off x="6635304" y="1285480"/>
            <a:ext cx="4114800" cy="158496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924800" y="0"/>
            <a:ext cx="36576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a:spLocks/>
          </p:cNvSpPr>
          <p:nvPr/>
        </p:nvSpPr>
        <p:spPr bwMode="auto">
          <a:xfrm>
            <a:off x="7924800" y="4267200"/>
            <a:ext cx="42672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a:spLocks/>
          </p:cNvSpPr>
          <p:nvPr/>
        </p:nvSpPr>
        <p:spPr bwMode="auto">
          <a:xfrm>
            <a:off x="7924800" y="0"/>
            <a:ext cx="18288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a:spLocks/>
          </p:cNvSpPr>
          <p:nvPr/>
        </p:nvSpPr>
        <p:spPr bwMode="auto">
          <a:xfrm>
            <a:off x="7931152" y="4246564"/>
            <a:ext cx="2787649"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a:spLocks/>
          </p:cNvSpPr>
          <p:nvPr/>
        </p:nvSpPr>
        <p:spPr bwMode="auto">
          <a:xfrm>
            <a:off x="7924800" y="4267200"/>
            <a:ext cx="21336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a:spLocks/>
          </p:cNvSpPr>
          <p:nvPr/>
        </p:nvSpPr>
        <p:spPr bwMode="auto">
          <a:xfrm>
            <a:off x="7924800" y="1371600"/>
            <a:ext cx="42672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a:spLocks/>
          </p:cNvSpPr>
          <p:nvPr/>
        </p:nvSpPr>
        <p:spPr bwMode="auto">
          <a:xfrm>
            <a:off x="7924800" y="1752600"/>
            <a:ext cx="42672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a:spLocks/>
          </p:cNvSpPr>
          <p:nvPr/>
        </p:nvSpPr>
        <p:spPr bwMode="auto">
          <a:xfrm>
            <a:off x="1320800" y="4267200"/>
            <a:ext cx="660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a:spLocks/>
          </p:cNvSpPr>
          <p:nvPr/>
        </p:nvSpPr>
        <p:spPr bwMode="auto">
          <a:xfrm>
            <a:off x="711200" y="4267200"/>
            <a:ext cx="7112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a:spLocks/>
          </p:cNvSpPr>
          <p:nvPr/>
        </p:nvSpPr>
        <p:spPr bwMode="auto">
          <a:xfrm>
            <a:off x="489099" y="2438400"/>
            <a:ext cx="75184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a:spLocks/>
          </p:cNvSpPr>
          <p:nvPr/>
        </p:nvSpPr>
        <p:spPr bwMode="auto">
          <a:xfrm>
            <a:off x="489099" y="2133600"/>
            <a:ext cx="75184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a:spLocks/>
          </p:cNvSpPr>
          <p:nvPr/>
        </p:nvSpPr>
        <p:spPr bwMode="auto">
          <a:xfrm>
            <a:off x="6096000" y="4267200"/>
            <a:ext cx="18288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942536" y="1351672"/>
            <a:ext cx="7624064"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7" name="Rectangle 6"/>
          <p:cNvSpPr/>
          <p:nvPr/>
        </p:nvSpPr>
        <p:spPr>
          <a:xfrm>
            <a:off x="484213" y="402265"/>
            <a:ext cx="1133856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42536" y="512064"/>
            <a:ext cx="10875264" cy="777240"/>
          </a:xfrm>
        </p:spPr>
        <p:txBody>
          <a:bodyPr tIns="64008"/>
          <a:lstStyle>
            <a:lvl1pPr algn="l">
              <a:buNone/>
              <a:defRPr sz="3800" b="0" cap="none" spc="-150" baseline="0"/>
            </a:lvl1pPr>
            <a:extLst/>
          </a:lstStyle>
          <a:p>
            <a:r>
              <a:rPr kumimoji="0" lang="en-US"/>
              <a:t>Click to edit Master title style</a:t>
            </a:r>
          </a:p>
        </p:txBody>
      </p:sp>
      <p:sp>
        <p:nvSpPr>
          <p:cNvPr id="8" name="Rectangle 7"/>
          <p:cNvSpPr/>
          <p:nvPr/>
        </p:nvSpPr>
        <p:spPr>
          <a:xfrm flipH="1">
            <a:off x="495384"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flipH="1">
            <a:off x="548145"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flipH="1">
            <a:off x="59793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635603" y="680477"/>
            <a:ext cx="1219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67304" y="680477"/>
            <a:ext cx="48768"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12064"/>
            <a:ext cx="10972800" cy="914400"/>
          </a:xfrm>
        </p:spPr>
        <p:txBody>
          <a:bodyPr/>
          <a:lstStyle/>
          <a:p>
            <a:r>
              <a:rPr kumimoji="0" lang="en-US"/>
              <a:t>Click to edit Master title style</a:t>
            </a:r>
          </a:p>
        </p:txBody>
      </p:sp>
      <p:sp>
        <p:nvSpPr>
          <p:cNvPr id="3" name="Content Placeholder 2"/>
          <p:cNvSpPr>
            <a:spLocks noGrp="1"/>
          </p:cNvSpPr>
          <p:nvPr>
            <p:ph sz="half" idx="1"/>
          </p:nvPr>
        </p:nvSpPr>
        <p:spPr>
          <a:xfrm>
            <a:off x="619125" y="1770502"/>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207125" y="1770502"/>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96027F-7875-4030-9381-8BD8C4F21935}" type="datetimeFigureOut">
              <a:rPr lang="en-US" smtClean="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6"/>
            <a:ext cx="11822773"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673099" y="512064"/>
            <a:ext cx="10363200" cy="914400"/>
          </a:xfrm>
        </p:spPr>
        <p:txBody>
          <a:bodyPr anchor="t"/>
          <a:lstStyle>
            <a:lvl1pPr>
              <a:defRPr sz="4000"/>
            </a:lvl1pPr>
            <a:extLst/>
          </a:lstStyle>
          <a:p>
            <a:r>
              <a:rPr kumimoji="0" lang="en-US"/>
              <a:t>Click to edit Master title style</a:t>
            </a:r>
          </a:p>
        </p:txBody>
      </p:sp>
      <p:sp>
        <p:nvSpPr>
          <p:cNvPr id="3" name="Text Placeholder 2"/>
          <p:cNvSpPr>
            <a:spLocks noGrp="1"/>
          </p:cNvSpPr>
          <p:nvPr>
            <p:ph type="body" idx="1"/>
          </p:nvPr>
        </p:nvSpPr>
        <p:spPr>
          <a:xfrm>
            <a:off x="609600" y="1809750"/>
            <a:ext cx="5386917"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09750"/>
            <a:ext cx="5389033"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459037"/>
            <a:ext cx="5386917"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459037"/>
            <a:ext cx="5389033"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96027F-7875-4030-9381-8BD8C4F21935}" type="datetimeFigureOut">
              <a:rPr lang="en-US" smtClean="0"/>
              <a:t>4/30/2026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6" name="Rectangle 15"/>
          <p:cNvSpPr/>
          <p:nvPr/>
        </p:nvSpPr>
        <p:spPr>
          <a:xfrm>
            <a:off x="117053" y="680477"/>
            <a:ext cx="6096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7" name="Rectangle 16"/>
          <p:cNvSpPr/>
          <p:nvPr/>
        </p:nvSpPr>
        <p:spPr>
          <a:xfrm>
            <a:off x="6307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Rectangle 17"/>
          <p:cNvSpPr/>
          <p:nvPr/>
        </p:nvSpPr>
        <p:spPr>
          <a:xfrm>
            <a:off x="37669"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Rectangle 19"/>
          <p:cNvSpPr/>
          <p:nvPr/>
        </p:nvSpPr>
        <p:spPr>
          <a:xfrm flipH="1">
            <a:off x="199693"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Rectangle 20"/>
          <p:cNvSpPr/>
          <p:nvPr/>
        </p:nvSpPr>
        <p:spPr>
          <a:xfrm flipH="1">
            <a:off x="252455"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flipH="1">
            <a:off x="302243"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339912" y="680477"/>
            <a:ext cx="1219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371613" y="680477"/>
            <a:ext cx="48768"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19200" y="512064"/>
            <a:ext cx="10363200" cy="914400"/>
          </a:xfrm>
        </p:spPr>
        <p:txBody>
          <a:bodyPr/>
          <a:lstStyle>
            <a:lvl1pPr>
              <a:defRPr sz="4000" cap="none" baseline="0"/>
            </a:lvl1pPr>
            <a:extLst/>
          </a:lstStyle>
          <a:p>
            <a:r>
              <a:rPr kumimoji="0" lang="en-US"/>
              <a:t>Click to edit Master title style</a:t>
            </a:r>
          </a:p>
        </p:txBody>
      </p:sp>
      <p:sp>
        <p:nvSpPr>
          <p:cNvPr id="3" name="Date Placeholder 2"/>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10972800" cy="1162050"/>
          </a:xfrm>
        </p:spPr>
        <p:txBody>
          <a:bodyPr anchor="ctr"/>
          <a:lstStyle>
            <a:lvl1pPr algn="l">
              <a:buNone/>
              <a:defRPr sz="3600" b="0"/>
            </a:lvl1pPr>
            <a:extLst/>
          </a:lstStyle>
          <a:p>
            <a:r>
              <a:rPr kumimoji="0" lang="en-US"/>
              <a:t>Click to edit Master title style</a:t>
            </a:r>
          </a:p>
        </p:txBody>
      </p:sp>
      <p:sp>
        <p:nvSpPr>
          <p:cNvPr id="3" name="Text Placeholder 2"/>
          <p:cNvSpPr>
            <a:spLocks noGrp="1"/>
          </p:cNvSpPr>
          <p:nvPr>
            <p:ph type="body" idx="2"/>
          </p:nvPr>
        </p:nvSpPr>
        <p:spPr>
          <a:xfrm>
            <a:off x="914400" y="1435100"/>
            <a:ext cx="33528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0" y="1435100"/>
            <a:ext cx="7315200"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490709" y="0"/>
            <a:ext cx="1170432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484260" y="1885028"/>
            <a:ext cx="11710163"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11374903" y="1197789"/>
            <a:ext cx="132763" cy="171288"/>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1219200" y="441252"/>
            <a:ext cx="9144000" cy="701749"/>
          </a:xfrm>
        </p:spPr>
        <p:txBody>
          <a:bodyPr anchor="b"/>
          <a:lstStyle>
            <a:lvl1pPr algn="l">
              <a:buNone/>
              <a:defRPr sz="2100" b="0"/>
            </a:lvl1pPr>
            <a:extLst/>
          </a:lstStyle>
          <a:p>
            <a:r>
              <a:rPr kumimoji="0" lang="en-US"/>
              <a:t>Click to edit Master title style</a:t>
            </a:r>
          </a:p>
        </p:txBody>
      </p:sp>
      <p:sp>
        <p:nvSpPr>
          <p:cNvPr id="3" name="Picture Placeholder 2"/>
          <p:cNvSpPr>
            <a:spLocks noGrp="1"/>
          </p:cNvSpPr>
          <p:nvPr>
            <p:ph type="pic" idx="1"/>
          </p:nvPr>
        </p:nvSpPr>
        <p:spPr>
          <a:xfrm>
            <a:off x="490709" y="1893781"/>
            <a:ext cx="11704320" cy="4960144"/>
          </a:xfrm>
          <a:solidFill>
            <a:schemeClr val="bg2"/>
          </a:solidFill>
        </p:spPr>
        <p:txBody>
          <a:bodyPr/>
          <a:lstStyle>
            <a:lvl1pPr marL="0" indent="0">
              <a:buNone/>
              <a:defRPr sz="3200"/>
            </a:lvl1pPr>
            <a:extLst/>
          </a:lstStyle>
          <a:p>
            <a:r>
              <a:rPr kumimoji="0" lang="en-US"/>
              <a:t>Click icon to add picture</a:t>
            </a:r>
          </a:p>
        </p:txBody>
      </p:sp>
      <p:sp>
        <p:nvSpPr>
          <p:cNvPr id="4" name="Text Placeholder 3"/>
          <p:cNvSpPr>
            <a:spLocks noGrp="1"/>
          </p:cNvSpPr>
          <p:nvPr>
            <p:ph type="body" sz="half" idx="2"/>
          </p:nvPr>
        </p:nvSpPr>
        <p:spPr bwMode="grayWhite">
          <a:xfrm>
            <a:off x="1219200" y="1150144"/>
            <a:ext cx="9144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grpSp>
        <p:nvGrpSpPr>
          <p:cNvPr id="14" name="Group 13"/>
          <p:cNvGrpSpPr/>
          <p:nvPr/>
        </p:nvGrpSpPr>
        <p:grpSpPr>
          <a:xfrm rot="5400000">
            <a:off x="11578103" y="1350189"/>
            <a:ext cx="132763" cy="171288"/>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11115579" y="1453352"/>
            <a:ext cx="132763" cy="171288"/>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8636000" y="55499"/>
            <a:ext cx="2844800" cy="365125"/>
          </a:xfrm>
        </p:spPr>
        <p:txBody>
          <a:bodyPr/>
          <a:lstStyle/>
          <a:p>
            <a:fld id="{4509A250-FF31-4206-8172-F9D3106AACB1}" type="datetimeFigureOut">
              <a:rPr lang="en-US" smtClean="0"/>
              <a:t>4/30/2026</a:t>
            </a:fld>
            <a:endParaRPr lang="en-US" dirty="0"/>
          </a:p>
        </p:txBody>
      </p:sp>
      <p:sp>
        <p:nvSpPr>
          <p:cNvPr id="6" name="Footer Placeholder 5"/>
          <p:cNvSpPr>
            <a:spLocks noGrp="1"/>
          </p:cNvSpPr>
          <p:nvPr>
            <p:ph type="ftr" sz="quarter" idx="11"/>
          </p:nvPr>
        </p:nvSpPr>
        <p:spPr>
          <a:xfrm>
            <a:off x="1219200" y="55499"/>
            <a:ext cx="7416800" cy="365125"/>
          </a:xfrm>
        </p:spPr>
        <p:txBody>
          <a:bodyPr/>
          <a:lstStyle/>
          <a:p>
            <a:endParaRPr lang="en-US" dirty="0"/>
          </a:p>
        </p:txBody>
      </p:sp>
      <p:sp>
        <p:nvSpPr>
          <p:cNvPr id="7" name="Slide Number Placeholder 6"/>
          <p:cNvSpPr>
            <a:spLocks noGrp="1"/>
          </p:cNvSpPr>
          <p:nvPr>
            <p:ph type="sldNum" sz="quarter" idx="12"/>
          </p:nvPr>
        </p:nvSpPr>
        <p:spPr>
          <a:xfrm>
            <a:off x="11480800" y="55499"/>
            <a:ext cx="609600" cy="365125"/>
          </a:xfrm>
        </p:spPr>
        <p:txBody>
          <a:bodyPr/>
          <a:lstStyle/>
          <a:p>
            <a:fld id="{D57F1E4F-1CFF-5643-939E-02111984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6416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812800" y="274640"/>
            <a:ext cx="78232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12192000" cy="4572000"/>
          </a:xfrm>
          <a:prstGeom prst="rect">
            <a:avLst/>
          </a:prstGeom>
        </p:spPr>
      </p:pic>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3" name="Subtitle 2"/>
          <p:cNvSpPr>
            <a:spLocks noGrp="1"/>
          </p:cNvSpPr>
          <p:nvPr>
            <p:ph type="subTitle" idx="1"/>
          </p:nvPr>
        </p:nvSpPr>
        <p:spPr>
          <a:xfrm>
            <a:off x="1625600" y="3886200"/>
            <a:ext cx="85344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914400" y="2007893"/>
            <a:ext cx="103632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803" y="4962530"/>
            <a:ext cx="10513484"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812803" y="3462343"/>
            <a:ext cx="10513484"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812800" y="1600200"/>
            <a:ext cx="49784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1600200"/>
            <a:ext cx="49784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6400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812800" y="2209800"/>
            <a:ext cx="49784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2800" y="274638"/>
            <a:ext cx="105664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2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400800" y="1600200"/>
            <a:ext cx="49784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CA7F16-7EF7-4BAE-A533-BC5C8B1B0BEB}"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CA7F16-7EF7-4BAE-A533-BC5C8B1B0BEB}"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5283200" y="1447800"/>
            <a:ext cx="61976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816864"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816864" y="2547895"/>
            <a:ext cx="39624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12192000" cy="6858000"/>
          </a:xfrm>
          <a:prstGeom prst="rect">
            <a:avLst/>
          </a:prstGeom>
        </p:spPr>
      </p:pic>
      <p:sp>
        <p:nvSpPr>
          <p:cNvPr id="2" name="Title 1"/>
          <p:cNvSpPr>
            <a:spLocks noGrp="1"/>
          </p:cNvSpPr>
          <p:nvPr>
            <p:ph type="title"/>
          </p:nvPr>
        </p:nvSpPr>
        <p:spPr>
          <a:xfrm>
            <a:off x="812800" y="1447800"/>
            <a:ext cx="39624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6209792" y="1447800"/>
            <a:ext cx="4559808"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12800" y="2547893"/>
            <a:ext cx="39624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B9CA7F16-7EF7-4BAE-A533-BC5C8B1B0BEB}" type="datetimeFigureOut">
              <a:rPr lang="en-US" smtClean="0"/>
              <a:t>4/30/2026</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815584" y="1026379"/>
            <a:ext cx="609600" cy="441325"/>
          </a:xfrm>
        </p:spPr>
        <p:txBody>
          <a:bodyPr/>
          <a:lstStyle/>
          <a:p>
            <a:fld id="{8A3A827A-826E-4A0B-AEA4-130148450C5D}" type="slidenum">
              <a:rPr lang="en-US" smtClean="0"/>
              <a:t>‹#›</a:t>
            </a:fld>
            <a:endParaRPr lang="en-US"/>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7264" y="142352"/>
            <a:ext cx="11777472"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5791200" y="2199457"/>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5" name="Date Placeholder 4"/>
          <p:cNvSpPr>
            <a:spLocks noGrp="1"/>
          </p:cNvSpPr>
          <p:nvPr>
            <p:ph type="dt" sz="half" idx="10"/>
          </p:nvPr>
        </p:nvSpPr>
        <p:spPr>
          <a:xfrm>
            <a:off x="7721600" y="6409944"/>
            <a:ext cx="4059936" cy="365760"/>
          </a:xfrm>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8" name="Straight Connector 7"/>
          <p:cNvSpPr>
            <a:spLocks noChangeShapeType="1"/>
          </p:cNvSpPr>
          <p:nvPr/>
        </p:nvSpPr>
        <p:spPr bwMode="auto">
          <a:xfrm flipV="1">
            <a:off x="6084111" y="1575654"/>
            <a:ext cx="11895"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94564" y="6391656"/>
            <a:ext cx="11777472"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5"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B9CA7F16-7EF7-4BAE-A533-BC5C8B1B0BEB}" type="datetimeFigureOut">
              <a:rPr lang="en-US" smtClean="0"/>
              <a:t>4/30/2026</a:t>
            </a:fld>
            <a:endParaRPr lang="en-US"/>
          </a:p>
        </p:txBody>
      </p:sp>
      <p:sp>
        <p:nvSpPr>
          <p:cNvPr id="8" name="Footer Placeholder 7"/>
          <p:cNvSpPr>
            <a:spLocks noGrp="1"/>
          </p:cNvSpPr>
          <p:nvPr>
            <p:ph type="ftr" sz="quarter" idx="11"/>
          </p:nvPr>
        </p:nvSpPr>
        <p:spPr>
          <a:xfrm>
            <a:off x="406400" y="6409944"/>
            <a:ext cx="4775200" cy="365760"/>
          </a:xfrm>
        </p:spPr>
        <p:txBody>
          <a:bodyPr/>
          <a:lstStyle/>
          <a:p>
            <a:endParaRPr lang="en-US"/>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5791200" y="1042423"/>
            <a:ext cx="609600" cy="441325"/>
          </a:xfrm>
        </p:spPr>
        <p:txBody>
          <a:bodyPr/>
          <a:lstStyle>
            <a:lvl1pPr algn="ctr">
              <a:defRPr/>
            </a:lvl1pPr>
          </a:lstStyle>
          <a:p>
            <a:fld id="{8A3A827A-826E-4A0B-AEA4-130148450C5D}" type="slidenum">
              <a:rPr lang="en-US" smtClean="0"/>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5791200" y="1036027"/>
            <a:ext cx="609600" cy="441325"/>
          </a:xfrm>
        </p:spPr>
        <p:txBody>
          <a:bodyPr/>
          <a:lstStyle/>
          <a:p>
            <a:fld id="{8A3A827A-826E-4A0B-AEA4-130148450C5D}"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B9CA7F16-7EF7-4BAE-A533-BC5C8B1B0BEB}"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5689600" y="6324600"/>
            <a:ext cx="812800" cy="441324"/>
          </a:xfrm>
        </p:spPr>
        <p:txBody>
          <a:bodyPr/>
          <a:lstStyle>
            <a:lvl1pPr>
              <a:defRPr>
                <a:solidFill>
                  <a:srgbClr val="FFFFFF"/>
                </a:solidFill>
              </a:defRPr>
            </a:lvl1pPr>
          </a:lstStyle>
          <a:p>
            <a:fld id="{8A3A827A-826E-4A0B-AEA4-130148450C5D}" type="slidenum">
              <a:rPr lang="en-US" smtClean="0"/>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508000" y="1981207"/>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lvl1pPr>
              <a:defRPr>
                <a:solidFill>
                  <a:schemeClr val="accent3">
                    <a:shade val="75000"/>
                  </a:schemeClr>
                </a:solidFill>
              </a:defRPr>
            </a:lvl1pPr>
          </a:lstStyle>
          <a:p>
            <a:fld id="{8A3A827A-826E-4A0B-AEA4-130148450C5D}" type="slidenum">
              <a:rPr lang="en-US" smtClean="0"/>
              <a:t>‹#›</a:t>
            </a:fld>
            <a:endParaRPr lang="en-US"/>
          </a:p>
        </p:txBody>
      </p:sp>
      <p:sp>
        <p:nvSpPr>
          <p:cNvPr id="21" name="Rectangle 20"/>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a:xfrm>
            <a:off x="402336" y="6410848"/>
            <a:ext cx="451104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203200" y="152400"/>
            <a:ext cx="11777472"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828800" y="312745"/>
            <a:ext cx="609600" cy="441325"/>
          </a:xfrm>
        </p:spPr>
        <p:txBody>
          <a:bodyPr/>
          <a:lstStyle/>
          <a:p>
            <a:fld id="{8A3A827A-826E-4A0B-AEA4-130148450C5D}" type="slidenum">
              <a:rPr lang="en-US" smtClean="0"/>
              <a:t>‹#›</a:t>
            </a:fld>
            <a:endParaRPr lang="en-US"/>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99136" y="6388392"/>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7717536" y="6404984"/>
            <a:ext cx="4059936" cy="365760"/>
          </a:xfrm>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a:xfrm>
            <a:off x="402336" y="6410848"/>
            <a:ext cx="4779264" cy="365760"/>
          </a:xfrm>
        </p:spPr>
        <p:txBody>
          <a:bodyPr/>
          <a:lstStyle/>
          <a:p>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95072" y="6391663"/>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9221216" y="3009908"/>
            <a:ext cx="609600" cy="441325"/>
          </a:xfrm>
        </p:spPr>
        <p:txBody>
          <a:bodyPr/>
          <a:lstStyle/>
          <a:p>
            <a:fld id="{8A3A827A-826E-4A0B-AEA4-130148450C5D}" type="slidenum">
              <a:rPr lang="en-US" smtClean="0"/>
              <a:t>‹#›</a:t>
            </a:fld>
            <a:endParaRPr lang="en-US"/>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9855200" y="304808"/>
            <a:ext cx="19304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82220" y="5353963"/>
            <a:ext cx="11631168"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914400" y="1600200"/>
            <a:ext cx="103632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828800" y="3556001"/>
            <a:ext cx="85344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228600"/>
            <a:ext cx="11594592"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8063257" y="4203592"/>
            <a:ext cx="383523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3492433" y="4075290"/>
            <a:ext cx="7392687"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3771637" y="4087562"/>
            <a:ext cx="729064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7479321" y="4074183"/>
            <a:ext cx="4410667"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82220" y="4058555"/>
            <a:ext cx="11631168"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920043" y="2463560"/>
            <a:ext cx="103632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823153" y="1437449"/>
            <a:ext cx="8556979"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9" name="Content Placeholder 8"/>
          <p:cNvSpPr>
            <a:spLocks noGrp="1"/>
          </p:cNvSpPr>
          <p:nvPr>
            <p:ph sz="quarter" idx="13"/>
          </p:nvPr>
        </p:nvSpPr>
        <p:spPr>
          <a:xfrm>
            <a:off x="902207"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2679192"/>
            <a:ext cx="5096256"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02208" y="2678114"/>
            <a:ext cx="5096256"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03115" y="3429009"/>
            <a:ext cx="5093407"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7600" y="2678113"/>
            <a:ext cx="5096256"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7" y="3429009"/>
            <a:ext cx="5096256"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CA7F16-7EF7-4BAE-A533-BC5C8B1B0BEB}"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CA7F16-7EF7-4BAE-A533-BC5C8B1B0BEB}"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82220" y="714191"/>
            <a:ext cx="11631168"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9CA7F16-7EF7-4BAE-A533-BC5C8B1B0BEB}"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4" name="Text Placeholder 3"/>
          <p:cNvSpPr>
            <a:spLocks noGrp="1"/>
          </p:cNvSpPr>
          <p:nvPr>
            <p:ph type="body" sz="half" idx="2"/>
          </p:nvPr>
        </p:nvSpPr>
        <p:spPr>
          <a:xfrm>
            <a:off x="1219200" y="3581409"/>
            <a:ext cx="44704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82220" y="714191"/>
            <a:ext cx="11631168"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1219200" y="2286000"/>
            <a:ext cx="44704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02617" y="1828800"/>
            <a:ext cx="5205435"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228600"/>
            <a:ext cx="11594592"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82220" y="5353963"/>
            <a:ext cx="11631168"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6498879" y="338667"/>
            <a:ext cx="5083527"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491117" y="2785533"/>
            <a:ext cx="5091289"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CA7F16-7EF7-4BAE-A533-BC5C8B1B0BEB}"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3A827A-826E-4A0B-AEA4-130148450C5D}" type="slidenum">
              <a:rPr lang="en-US" smtClean="0"/>
              <a:t>‹#›</a:t>
            </a:fld>
            <a:endParaRPr lang="en-US"/>
          </a:p>
        </p:txBody>
      </p:sp>
      <p:sp>
        <p:nvSpPr>
          <p:cNvPr id="3" name="Picture Placeholder 2"/>
          <p:cNvSpPr>
            <a:spLocks noGrp="1"/>
          </p:cNvSpPr>
          <p:nvPr>
            <p:ph type="pic" idx="1"/>
          </p:nvPr>
        </p:nvSpPr>
        <p:spPr>
          <a:xfrm>
            <a:off x="1117600" y="1371600"/>
            <a:ext cx="475488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304800" y="228600"/>
            <a:ext cx="11594592"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9CA7F16-7EF7-4BAE-A533-BC5C8B1B0BEB}"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3A827A-826E-4A0B-AEA4-130148450C5D}" type="slidenum">
              <a:rPr lang="en-US" smtClean="0"/>
              <a:t>‹#›</a:t>
            </a:fld>
            <a:endParaRPr lang="en-US"/>
          </a:p>
        </p:txBody>
      </p:sp>
      <p:grpSp>
        <p:nvGrpSpPr>
          <p:cNvPr id="15" name="Group 14"/>
          <p:cNvGrpSpPr>
            <a:grpSpLocks noChangeAspect="1"/>
          </p:cNvGrpSpPr>
          <p:nvPr/>
        </p:nvGrpSpPr>
        <p:grpSpPr bwMode="hidden">
          <a:xfrm>
            <a:off x="282220" y="714191"/>
            <a:ext cx="11631168"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8839200" y="1447803"/>
            <a:ext cx="27432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1447800"/>
            <a:ext cx="80264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12192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12192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965060" y="5052546"/>
            <a:ext cx="7516013"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ctrTitle"/>
          </p:nvPr>
        </p:nvSpPr>
        <p:spPr>
          <a:xfrm>
            <a:off x="1090109" y="3132290"/>
            <a:ext cx="9567135"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524000" y="731520"/>
            <a:ext cx="85344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0927" y="2172648"/>
            <a:ext cx="7955555"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696584" y="4607511"/>
            <a:ext cx="7960659"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796027F-7875-4030-9381-8BD8C4F21935}" type="datetimeFigureOut">
              <a:rPr lang="en-US" smtClean="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523999" y="731519"/>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193536" y="731520"/>
            <a:ext cx="4462272"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0"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41929" y="1400327"/>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6403" y="731520"/>
            <a:ext cx="4462272"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a:t>Click to edit Master text styles</a:t>
            </a:r>
          </a:p>
        </p:txBody>
      </p:sp>
      <p:sp>
        <p:nvSpPr>
          <p:cNvPr id="6" name="Content Placeholder 5"/>
          <p:cNvSpPr>
            <a:spLocks noGrp="1"/>
          </p:cNvSpPr>
          <p:nvPr>
            <p:ph sz="quarter" idx="4"/>
          </p:nvPr>
        </p:nvSpPr>
        <p:spPr>
          <a:xfrm>
            <a:off x="6193367" y="1399032"/>
            <a:ext cx="4462272"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4/30/2026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8794" y="2209801"/>
            <a:ext cx="4848113"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6124688" y="731520"/>
            <a:ext cx="5356113"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4354" y="3497802"/>
            <a:ext cx="4518213"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12192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12192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12192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5966900" y="1143000"/>
            <a:ext cx="54864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70516" y="1010486"/>
            <a:ext cx="4925485"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2" name="Title 1"/>
          <p:cNvSpPr>
            <a:spLocks noGrp="1"/>
          </p:cNvSpPr>
          <p:nvPr>
            <p:ph type="title"/>
          </p:nvPr>
        </p:nvSpPr>
        <p:spPr>
          <a:xfrm>
            <a:off x="969691" y="4464421"/>
            <a:ext cx="8511384"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2540000" y="731519"/>
            <a:ext cx="85344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8344" y="376518"/>
            <a:ext cx="27432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4432151" y="731520"/>
            <a:ext cx="6439049"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1"/>
            <a:ext cx="487680" cy="6854456"/>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340388" y="5047394"/>
            <a:ext cx="97536" cy="169164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340388" y="4796819"/>
            <a:ext cx="97536"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340388" y="4637685"/>
            <a:ext cx="97536" cy="137160"/>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340388" y="4542559"/>
            <a:ext cx="97536" cy="7315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412744" y="680477"/>
            <a:ext cx="6096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5" name="Rectangle 14"/>
          <p:cNvSpPr/>
          <p:nvPr/>
        </p:nvSpPr>
        <p:spPr>
          <a:xfrm>
            <a:off x="358764" y="680477"/>
            <a:ext cx="36576"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p:nvSpPr>
        <p:spPr>
          <a:xfrm>
            <a:off x="333360"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95691" y="680477"/>
            <a:ext cx="1219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512064"/>
            <a:ext cx="103632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1219200" y="1783560"/>
            <a:ext cx="103632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636000" y="6416676"/>
            <a:ext cx="2844800" cy="365125"/>
          </a:xfrm>
          <a:prstGeom prst="rect">
            <a:avLst/>
          </a:prstGeom>
        </p:spPr>
        <p:txBody>
          <a:bodyPr vert="horz" anchor="b"/>
          <a:lstStyle>
            <a:lvl1pPr algn="l" eaLnBrk="1" latinLnBrk="0" hangingPunct="1">
              <a:defRPr kumimoji="0" sz="1100">
                <a:solidFill>
                  <a:schemeClr val="tx2"/>
                </a:solidFill>
              </a:defRPr>
            </a:lvl1pPr>
            <a:extLst/>
          </a:lstStyle>
          <a:p>
            <a:fld id="{4AAD347D-5ACD-4C99-B74B-A9C85AD731AF}" type="datetimeFigureOut">
              <a:rPr lang="en-US" smtClean="0"/>
              <a:t>4/30/2026</a:t>
            </a:fld>
            <a:endParaRPr lang="en-US" dirty="0"/>
          </a:p>
        </p:txBody>
      </p:sp>
      <p:sp>
        <p:nvSpPr>
          <p:cNvPr id="3" name="Footer Placeholder 2"/>
          <p:cNvSpPr>
            <a:spLocks noGrp="1"/>
          </p:cNvSpPr>
          <p:nvPr>
            <p:ph type="ftr" sz="quarter" idx="3"/>
          </p:nvPr>
        </p:nvSpPr>
        <p:spPr>
          <a:xfrm>
            <a:off x="1219200" y="6416676"/>
            <a:ext cx="7416800" cy="365125"/>
          </a:xfrm>
          <a:prstGeom prst="rect">
            <a:avLst/>
          </a:prstGeom>
        </p:spPr>
        <p:txBody>
          <a:bodyPr vert="horz" anchor="b"/>
          <a:lstStyle>
            <a:lvl1pPr algn="r" eaLnBrk="1" latinLnBrk="0" hangingPunct="1">
              <a:defRPr kumimoji="0" sz="1100">
                <a:solidFill>
                  <a:schemeClr val="tx2"/>
                </a:solidFill>
              </a:defRPr>
            </a:lvl1pPr>
            <a:extLst/>
          </a:lstStyle>
          <a:p>
            <a:endParaRPr lang="en-US" dirty="0"/>
          </a:p>
        </p:txBody>
      </p:sp>
      <p:sp>
        <p:nvSpPr>
          <p:cNvPr id="23" name="Slide Number Placeholder 22"/>
          <p:cNvSpPr>
            <a:spLocks noGrp="1"/>
          </p:cNvSpPr>
          <p:nvPr>
            <p:ph type="sldNum" sz="quarter" idx="4"/>
          </p:nvPr>
        </p:nvSpPr>
        <p:spPr>
          <a:xfrm>
            <a:off x="11480800" y="6416676"/>
            <a:ext cx="609600" cy="365125"/>
          </a:xfrm>
          <a:prstGeom prst="rect">
            <a:avLst/>
          </a:prstGeom>
        </p:spPr>
        <p:txBody>
          <a:bodyPr vert="horz" anchor="b"/>
          <a:lstStyle>
            <a:lvl1pPr algn="l" eaLnBrk="1" latinLnBrk="0" hangingPunct="1">
              <a:defRPr kumimoji="0" sz="1200">
                <a:solidFill>
                  <a:schemeClr val="tx2"/>
                </a:solidFill>
              </a:defRPr>
            </a:lvl1pPr>
            <a:extLst/>
          </a:lstStyle>
          <a:p>
            <a:fld id="{D57F1E4F-1CFF-5643-939E-02111984F565}"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Lst>
  <p:hf sldNum="0" hdr="0" ftr="0" dt="0"/>
  <p:txStyles>
    <p:titleStyle>
      <a:lvl1pPr algn="l" rtl="0" eaLnBrk="1" latinLnBrk="0" hangingPunct="1">
        <a:spcBef>
          <a:spcPct val="0"/>
        </a:spcBef>
        <a:buNone/>
        <a:defRPr kumimoji="0" sz="40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30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12192000" cy="6858000"/>
          </a:xfrm>
          <a:prstGeom prst="rect">
            <a:avLst/>
          </a:prstGeom>
        </p:spPr>
      </p:pic>
      <p:sp>
        <p:nvSpPr>
          <p:cNvPr id="2" name="Title Placeholder 1"/>
          <p:cNvSpPr>
            <a:spLocks noGrp="1"/>
          </p:cNvSpPr>
          <p:nvPr>
            <p:ph type="title"/>
          </p:nvPr>
        </p:nvSpPr>
        <p:spPr>
          <a:xfrm>
            <a:off x="812800" y="274638"/>
            <a:ext cx="105664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812800" y="1600203"/>
            <a:ext cx="105664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0" y="6356353"/>
            <a:ext cx="2032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B9CA7F16-7EF7-4BAE-A533-BC5C8B1B0BEB}" type="datetimeFigureOut">
              <a:rPr lang="en-US" smtClean="0"/>
              <a:t>4/30/2026</a:t>
            </a:fld>
            <a:endParaRPr lang="en-US"/>
          </a:p>
        </p:txBody>
      </p:sp>
      <p:sp>
        <p:nvSpPr>
          <p:cNvPr id="5" name="Footer Placeholder 4"/>
          <p:cNvSpPr>
            <a:spLocks noGrp="1"/>
          </p:cNvSpPr>
          <p:nvPr>
            <p:ph type="ftr" sz="quarter" idx="3"/>
          </p:nvPr>
        </p:nvSpPr>
        <p:spPr>
          <a:xfrm>
            <a:off x="812800" y="6356353"/>
            <a:ext cx="38608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10058400" y="6356353"/>
            <a:ext cx="1320800" cy="365125"/>
          </a:xfrm>
          <a:prstGeom prst="rect">
            <a:avLst/>
          </a:prstGeom>
        </p:spPr>
        <p:txBody>
          <a:bodyPr vert="horz" lIns="91440" tIns="45720" rIns="91440" bIns="45720" rtlCol="0" anchor="ctr"/>
          <a:lstStyle>
            <a:lvl1pPr algn="r">
              <a:defRPr sz="1100" baseline="0">
                <a:solidFill>
                  <a:schemeClr val="tx1"/>
                </a:solidFill>
              </a:defRPr>
            </a:lvl1pPr>
          </a:lstStyle>
          <a:p>
            <a:fld id="{8A3A827A-826E-4A0B-AEA4-130148450C5D}"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5"/>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99136" y="6388390"/>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7721600" y="6404984"/>
            <a:ext cx="4059936" cy="365760"/>
          </a:xfrm>
          <a:prstGeom prst="rect">
            <a:avLst/>
          </a:prstGeom>
        </p:spPr>
        <p:txBody>
          <a:bodyPr vert="horz"/>
          <a:lstStyle>
            <a:lvl1pPr algn="r" eaLnBrk="1" latinLnBrk="0" hangingPunct="1">
              <a:defRPr kumimoji="0" sz="1400">
                <a:solidFill>
                  <a:srgbClr val="FFFFFF"/>
                </a:solidFill>
              </a:defRPr>
            </a:lvl1pPr>
          </a:lstStyle>
          <a:p>
            <a:fld id="{B9CA7F16-7EF7-4BAE-A533-BC5C8B1B0BEB}" type="datetimeFigureOut">
              <a:rPr lang="en-US" smtClean="0"/>
              <a:t>4/30/2026</a:t>
            </a:fld>
            <a:endParaRPr lang="en-US"/>
          </a:p>
        </p:txBody>
      </p:sp>
      <p:sp>
        <p:nvSpPr>
          <p:cNvPr id="3" name="Footer Placeholder 2"/>
          <p:cNvSpPr>
            <a:spLocks noGrp="1"/>
          </p:cNvSpPr>
          <p:nvPr>
            <p:ph type="ftr" sz="quarter" idx="3"/>
          </p:nvPr>
        </p:nvSpPr>
        <p:spPr>
          <a:xfrm>
            <a:off x="406400" y="6410848"/>
            <a:ext cx="47752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5791200" y="1040179"/>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8A3A827A-826E-4A0B-AEA4-130148450C5D}"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304800" y="228600"/>
            <a:ext cx="11594592"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82220" y="1679429"/>
            <a:ext cx="11631168"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609600" y="338328"/>
            <a:ext cx="109728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6884896" y="6250171"/>
            <a:ext cx="5048920" cy="365125"/>
          </a:xfrm>
          <a:prstGeom prst="rect">
            <a:avLst/>
          </a:prstGeom>
        </p:spPr>
        <p:txBody>
          <a:bodyPr vert="horz" lIns="91440" tIns="45720" rIns="91440" bIns="45720" rtlCol="0" anchor="ctr"/>
          <a:lstStyle>
            <a:lvl1pPr algn="r">
              <a:defRPr sz="1000">
                <a:solidFill>
                  <a:schemeClr val="tx2"/>
                </a:solidFill>
              </a:defRPr>
            </a:lvl1pPr>
          </a:lstStyle>
          <a:p>
            <a:fld id="{B9CA7F16-7EF7-4BAE-A533-BC5C8B1B0BEB}" type="datetimeFigureOut">
              <a:rPr lang="en-US" smtClean="0"/>
              <a:t>4/30/2026</a:t>
            </a:fld>
            <a:endParaRPr lang="en-US"/>
          </a:p>
        </p:txBody>
      </p:sp>
      <p:sp>
        <p:nvSpPr>
          <p:cNvPr id="5" name="Footer Placeholder 4"/>
          <p:cNvSpPr>
            <a:spLocks noGrp="1"/>
          </p:cNvSpPr>
          <p:nvPr>
            <p:ph type="ftr" sz="quarter" idx="3"/>
          </p:nvPr>
        </p:nvSpPr>
        <p:spPr>
          <a:xfrm>
            <a:off x="258189" y="6250171"/>
            <a:ext cx="504892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5321452" y="6250170"/>
            <a:ext cx="1549101" cy="365125"/>
          </a:xfrm>
          <a:prstGeom prst="rect">
            <a:avLst/>
          </a:prstGeom>
        </p:spPr>
        <p:txBody>
          <a:bodyPr vert="horz" lIns="91440" tIns="45720" rIns="91440" bIns="45720" rtlCol="0" anchor="ctr"/>
          <a:lstStyle>
            <a:lvl1pPr algn="ctr">
              <a:defRPr sz="1000">
                <a:solidFill>
                  <a:schemeClr val="tx2"/>
                </a:solidFill>
              </a:defRPr>
            </a:lvl1pPr>
          </a:lstStyle>
          <a:p>
            <a:fld id="{8A3A827A-826E-4A0B-AEA4-130148450C5D}" type="slidenum">
              <a:rPr lang="en-US" smtClean="0"/>
              <a:t>‹#›</a:t>
            </a:fld>
            <a:endParaRPr lang="en-US"/>
          </a:p>
        </p:txBody>
      </p:sp>
      <p:sp>
        <p:nvSpPr>
          <p:cNvPr id="3" name="Text Placeholder 2"/>
          <p:cNvSpPr>
            <a:spLocks noGrp="1"/>
          </p:cNvSpPr>
          <p:nvPr>
            <p:ph type="body" idx="1"/>
          </p:nvPr>
        </p:nvSpPr>
        <p:spPr>
          <a:xfrm>
            <a:off x="1162761" y="2675467"/>
            <a:ext cx="9877777"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5105400"/>
            <a:ext cx="12192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12192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12192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12192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391053" y="4372168"/>
            <a:ext cx="8683348"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524000" y="732260"/>
            <a:ext cx="85344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00" y="6172201"/>
            <a:ext cx="33528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4AAD347D-5ACD-4C99-B74B-A9C85AD731AF}" type="datetimeFigureOut">
              <a:rPr lang="en-US" smtClean="0"/>
              <a:t>4/30/2026</a:t>
            </a:fld>
            <a:endParaRPr lang="en-US" dirty="0"/>
          </a:p>
        </p:txBody>
      </p:sp>
      <p:sp>
        <p:nvSpPr>
          <p:cNvPr id="5" name="Footer Placeholder 4"/>
          <p:cNvSpPr>
            <a:spLocks noGrp="1"/>
          </p:cNvSpPr>
          <p:nvPr>
            <p:ph type="ftr" sz="quarter" idx="3"/>
          </p:nvPr>
        </p:nvSpPr>
        <p:spPr>
          <a:xfrm>
            <a:off x="609600" y="6172201"/>
            <a:ext cx="44704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5080000" y="6172201"/>
            <a:ext cx="24384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D57F1E4F-1CFF-5643-939E-02111984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4008" r:id="rId1"/>
    <p:sldLayoutId id="2147484009" r:id="rId2"/>
    <p:sldLayoutId id="2147484010" r:id="rId3"/>
    <p:sldLayoutId id="2147484011" r:id="rId4"/>
    <p:sldLayoutId id="2147484012" r:id="rId5"/>
    <p:sldLayoutId id="2147484013" r:id="rId6"/>
    <p:sldLayoutId id="2147484014" r:id="rId7"/>
    <p:sldLayoutId id="2147484015" r:id="rId8"/>
    <p:sldLayoutId id="2147484016" r:id="rId9"/>
    <p:sldLayoutId id="2147484017" r:id="rId10"/>
    <p:sldLayoutId id="2147484018" r:id="rId11"/>
  </p:sldLayoutIdLst>
  <p:hf sldNum="0"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jpe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0.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8.jpeg"/><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cstate="print">
            <a:extLst>
              <a:ext uri="{BEBA8EAE-BF5A-486C-A8C5-ECC9F3942E4B}">
                <a14:imgProps xmlns:a14="http://schemas.microsoft.com/office/drawing/2010/main">
                  <a14:imgLayer r:embed="rId3">
                    <a14:imgEffect>
                      <a14:colorTemperature colorTemp="4700"/>
                    </a14:imgEffect>
                    <a14:imgEffect>
                      <a14:saturation sat="300000"/>
                    </a14:imgEffect>
                  </a14:imgLayer>
                </a14:imgProps>
              </a:ext>
            </a:extLst>
          </a:blip>
          <a:srcRect/>
          <a:stretch/>
        </p:blipFill>
        <p:spPr>
          <a:xfrm>
            <a:off x="824138" y="754912"/>
            <a:ext cx="1504392" cy="1515876"/>
          </a:xfrm>
          <a:prstGeom prst="rect">
            <a:avLst/>
          </a:prstGeom>
        </p:spPr>
      </p:pic>
      <p:sp>
        <p:nvSpPr>
          <p:cNvPr id="2" name="Title 1"/>
          <p:cNvSpPr>
            <a:spLocks noGrp="1"/>
          </p:cNvSpPr>
          <p:nvPr>
            <p:ph type="ctrTitle"/>
          </p:nvPr>
        </p:nvSpPr>
        <p:spPr>
          <a:xfrm>
            <a:off x="519358" y="330453"/>
            <a:ext cx="11451771" cy="2950867"/>
          </a:xfrm>
        </p:spPr>
        <p:txBody>
          <a:bodyPr anchor="ctr">
            <a:normAutofit fontScale="90000"/>
          </a:bodyPr>
          <a:lstStyle/>
          <a:p>
            <a:pPr marL="182880" indent="0" algn="ctr">
              <a:buNone/>
            </a:pPr>
            <a:br>
              <a:rPr lang="en-US" sz="2700" b="1" dirty="0">
                <a:solidFill>
                  <a:srgbClr val="FF0000"/>
                </a:solidFill>
                <a:effectLst/>
              </a:rPr>
            </a:br>
            <a:r>
              <a:rPr lang="en-US" sz="2700" b="1" dirty="0">
                <a:solidFill>
                  <a:srgbClr val="FF0000"/>
                </a:solidFill>
                <a:effectLst/>
                <a:latin typeface="Times New Roman" panose="02020603050405020304" pitchFamily="18" charset="0"/>
                <a:cs typeface="Times New Roman" panose="02020603050405020304" pitchFamily="18" charset="0"/>
              </a:rPr>
              <a:t>ANNAMACHARYA INSTITUTE OF TECHNOLOGY AND SCIENCES::TIRUPATI</a:t>
            </a:r>
            <a:br>
              <a:rPr lang="en-US" sz="2700" b="1" dirty="0">
                <a:solidFill>
                  <a:srgbClr val="FF0000"/>
                </a:solidFill>
                <a:effectLst/>
                <a:latin typeface="Times New Roman" panose="02020603050405020304" pitchFamily="18" charset="0"/>
                <a:cs typeface="Times New Roman" panose="02020603050405020304" pitchFamily="18" charset="0"/>
              </a:rPr>
            </a:br>
            <a:r>
              <a:rPr lang="en-IN" sz="2000" b="1" dirty="0">
                <a:solidFill>
                  <a:srgbClr val="FF0000"/>
                </a:solidFill>
                <a:effectLst/>
                <a:latin typeface="Times New Roman" panose="02020603050405020304" pitchFamily="18" charset="0"/>
                <a:cs typeface="Times New Roman" panose="02020603050405020304" pitchFamily="18" charset="0"/>
              </a:rPr>
              <a:t>(AUTONOMOUS)</a:t>
            </a:r>
            <a:br>
              <a:rPr lang="en-IN" sz="2000" b="1" dirty="0">
                <a:solidFill>
                  <a:srgbClr val="FF0000"/>
                </a:solidFill>
                <a:effectLst/>
              </a:rPr>
            </a:br>
            <a:r>
              <a:rPr lang="en-IN" sz="2400" dirty="0">
                <a:solidFill>
                  <a:srgbClr val="0033CC"/>
                </a:solidFill>
                <a:effectLst/>
                <a:latin typeface="Times New Roman" panose="02020603050405020304" pitchFamily="18" charset="0"/>
                <a:cs typeface="Times New Roman" panose="02020603050405020304" pitchFamily="18" charset="0"/>
              </a:rPr>
              <a:t>Artificial Intelligence and Data Science</a:t>
            </a:r>
            <a:br>
              <a:rPr lang="en-IN" sz="2000" dirty="0">
                <a:solidFill>
                  <a:srgbClr val="0033CC"/>
                </a:solidFill>
                <a:effectLst/>
              </a:rPr>
            </a:br>
            <a:r>
              <a:rPr lang="en-IN" sz="2400" dirty="0">
                <a:effectLst/>
                <a:latin typeface="Algerian" pitchFamily="82" charset="0"/>
              </a:rPr>
              <a:t>A.Y.: 2025-2026</a:t>
            </a:r>
            <a:br>
              <a:rPr lang="en-IN" sz="2700" b="1" dirty="0">
                <a:solidFill>
                  <a:schemeClr val="accent1">
                    <a:lumMod val="75000"/>
                  </a:schemeClr>
                </a:solidFill>
                <a:effectLst/>
              </a:rPr>
            </a:br>
            <a:r>
              <a:rPr lang="en-IN" sz="2700" dirty="0">
                <a:solidFill>
                  <a:schemeClr val="accent1">
                    <a:lumMod val="75000"/>
                  </a:schemeClr>
                </a:solidFill>
                <a:effectLst/>
                <a:latin typeface="Times New Roman" panose="02020603050405020304" pitchFamily="18" charset="0"/>
                <a:cs typeface="Times New Roman" panose="02020603050405020304" pitchFamily="18" charset="0"/>
              </a:rPr>
              <a:t>PROJECT</a:t>
            </a:r>
            <a:r>
              <a:rPr lang="en-IN" sz="2700" b="1" dirty="0">
                <a:solidFill>
                  <a:schemeClr val="accent1">
                    <a:lumMod val="75000"/>
                  </a:schemeClr>
                </a:solidFill>
                <a:effectLst/>
                <a:latin typeface="Times New Roman" panose="02020603050405020304" pitchFamily="18" charset="0"/>
                <a:cs typeface="Times New Roman" panose="02020603050405020304" pitchFamily="18" charset="0"/>
              </a:rPr>
              <a:t> REVIEW</a:t>
            </a:r>
            <a:br>
              <a:rPr lang="en-IN" sz="2700" b="1" dirty="0">
                <a:solidFill>
                  <a:schemeClr val="accent1">
                    <a:lumMod val="75000"/>
                  </a:schemeClr>
                </a:solidFill>
                <a:effectLst/>
              </a:rPr>
            </a:br>
            <a:r>
              <a:rPr lang="en-US" sz="3100" u="sng" dirty="0">
                <a:solidFill>
                  <a:srgbClr val="FF0000"/>
                </a:solidFill>
                <a:effectLst/>
                <a:latin typeface="Times New Roman" panose="02020603050405020304" pitchFamily="18" charset="0"/>
                <a:cs typeface="Times New Roman" panose="02020603050405020304" pitchFamily="18" charset="0"/>
              </a:rPr>
              <a:t>Implementation of Text-to-Image Generators in Designing Usability Interfaces for Web Page Construction</a:t>
            </a:r>
            <a:br>
              <a:rPr lang="en-US" dirty="0">
                <a:effectLst/>
              </a:rPr>
            </a:br>
            <a:br>
              <a:rPr lang="en-IN" sz="2400" dirty="0">
                <a:solidFill>
                  <a:srgbClr val="C00000"/>
                </a:solidFill>
                <a:effectLst/>
                <a:latin typeface="Arial Black" pitchFamily="34" charset="0"/>
              </a:rPr>
            </a:br>
            <a:endParaRPr lang="en-IN" sz="2400" dirty="0">
              <a:solidFill>
                <a:srgbClr val="C00000"/>
              </a:solidFill>
              <a:effectLst/>
              <a:latin typeface="Arial Black" pitchFamily="34" charset="0"/>
            </a:endParaRPr>
          </a:p>
        </p:txBody>
      </p:sp>
      <p:sp>
        <p:nvSpPr>
          <p:cNvPr id="5" name="TextBox 4"/>
          <p:cNvSpPr txBox="1"/>
          <p:nvPr/>
        </p:nvSpPr>
        <p:spPr>
          <a:xfrm>
            <a:off x="2328530" y="4404704"/>
            <a:ext cx="8038250" cy="2277547"/>
          </a:xfrm>
          <a:prstGeom prst="rect">
            <a:avLst/>
          </a:prstGeom>
          <a:noFill/>
        </p:spPr>
        <p:txBody>
          <a:bodyPr wrap="square" rtlCol="0">
            <a:spAutoFit/>
          </a:bodyPr>
          <a:lstStyle/>
          <a:p>
            <a:r>
              <a:rPr lang="en-GB" sz="2000" b="1" dirty="0"/>
              <a:t>	 </a:t>
            </a:r>
          </a:p>
          <a:p>
            <a:r>
              <a:rPr lang="en-GB" sz="2800" b="1" dirty="0">
                <a:solidFill>
                  <a:srgbClr val="FF0000"/>
                </a:solidFill>
                <a:latin typeface="Times New Roman" panose="02020603050405020304" pitchFamily="18" charset="0"/>
                <a:cs typeface="Times New Roman" panose="02020603050405020304" pitchFamily="18" charset="0"/>
              </a:rPr>
              <a:t>                 AI&amp;DS-2 : Batch No-</a:t>
            </a:r>
            <a:r>
              <a:rPr lang="en-GB" sz="2800" b="1" dirty="0">
                <a:solidFill>
                  <a:srgbClr val="FF0E0E"/>
                </a:solidFill>
              </a:rPr>
              <a:t>11</a:t>
            </a:r>
            <a:endParaRPr lang="en-GB" sz="2800" b="1" dirty="0">
              <a:solidFill>
                <a:srgbClr val="FF0E0E"/>
              </a:solidFill>
              <a:latin typeface="Times New Roman" panose="02020603050405020304" pitchFamily="18" charset="0"/>
              <a:cs typeface="Times New Roman" panose="02020603050405020304" pitchFamily="18" charset="0"/>
            </a:endParaRPr>
          </a:p>
          <a:p>
            <a:endParaRPr lang="en-GB" sz="2000" b="1" dirty="0"/>
          </a:p>
          <a:p>
            <a:pPr algn="just"/>
            <a:r>
              <a:rPr lang="en-US" b="1" dirty="0">
                <a:latin typeface="Times New Roman" panose="02020603050405020304" pitchFamily="18" charset="0"/>
                <a:cs typeface="Times New Roman" panose="02020603050405020304" pitchFamily="18" charset="0"/>
              </a:rPr>
              <a:t>  22AK1A3057  		 		      NARAYANA VARA PRASD REDDY</a:t>
            </a:r>
            <a:r>
              <a:rPr lang="en-US" b="1" dirty="0"/>
              <a:t> </a:t>
            </a:r>
            <a:r>
              <a:rPr lang="en-US" b="1" dirty="0">
                <a:latin typeface="Times New Roman" panose="02020603050405020304" pitchFamily="18" charset="0"/>
                <a:cs typeface="Times New Roman" panose="02020603050405020304" pitchFamily="18" charset="0"/>
              </a:rPr>
              <a:t>Y</a:t>
            </a:r>
          </a:p>
          <a:p>
            <a:pPr algn="just"/>
            <a:r>
              <a:rPr lang="en-US" b="1" dirty="0">
                <a:latin typeface="Times New Roman" panose="02020603050405020304" pitchFamily="18" charset="0"/>
                <a:cs typeface="Times New Roman" panose="02020603050405020304" pitchFamily="18" charset="0"/>
              </a:rPr>
              <a:t>  22AK1A3065		                      PRABHAS V</a:t>
            </a:r>
          </a:p>
          <a:p>
            <a:r>
              <a:rPr lang="en-US" b="1" dirty="0">
                <a:latin typeface="Times New Roman" panose="02020603050405020304" pitchFamily="18" charset="0"/>
                <a:cs typeface="Times New Roman" panose="02020603050405020304" pitchFamily="18" charset="0"/>
              </a:rPr>
              <a:t>  22AK1A3074			              SALEEM BASHA S</a:t>
            </a:r>
          </a:p>
          <a:p>
            <a:r>
              <a:rPr lang="en-US" b="1" dirty="0">
                <a:latin typeface="Times New Roman" panose="02020603050405020304" pitchFamily="18" charset="0"/>
                <a:cs typeface="Times New Roman" panose="02020603050405020304" pitchFamily="18" charset="0"/>
              </a:rPr>
              <a:t>  22AK1A3092		                      VENKATA ASHISH RAJ K </a:t>
            </a:r>
            <a:endParaRPr lang="en-IN"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163310" y="3281320"/>
            <a:ext cx="5237923" cy="2246769"/>
          </a:xfrm>
          <a:prstGeom prst="rect">
            <a:avLst/>
          </a:prstGeom>
          <a:noFill/>
        </p:spPr>
        <p:txBody>
          <a:bodyPr wrap="square" rtlCol="0">
            <a:spAutoFit/>
          </a:bodyPr>
          <a:lstStyle/>
          <a:p>
            <a:r>
              <a:rPr lang="en-GB" sz="2000" b="1" dirty="0">
                <a:solidFill>
                  <a:srgbClr val="FF0000"/>
                </a:solidFill>
              </a:rPr>
              <a:t> </a:t>
            </a:r>
            <a:r>
              <a:rPr lang="en-GB" sz="2000" b="1" dirty="0">
                <a:solidFill>
                  <a:srgbClr val="FF0000"/>
                </a:solidFill>
                <a:latin typeface="Times New Roman" panose="02020603050405020304" pitchFamily="18" charset="0"/>
                <a:cs typeface="Times New Roman" panose="02020603050405020304" pitchFamily="18" charset="0"/>
              </a:rPr>
              <a:t>Under the Guidance of</a:t>
            </a:r>
          </a:p>
          <a:p>
            <a:r>
              <a:rPr lang="en-GB" sz="2000" b="1" dirty="0">
                <a:solidFill>
                  <a:srgbClr val="0033CC"/>
                </a:solidFill>
                <a:latin typeface="Times New Roman" panose="02020603050405020304" pitchFamily="18" charset="0"/>
                <a:cs typeface="Times New Roman" panose="02020603050405020304" pitchFamily="18" charset="0"/>
              </a:rPr>
              <a:t> </a:t>
            </a:r>
            <a:r>
              <a:rPr lang="en-GB" sz="2000" b="1" dirty="0" err="1">
                <a:solidFill>
                  <a:srgbClr val="0033CC"/>
                </a:solidFill>
                <a:latin typeface="Times New Roman" panose="02020603050405020304" pitchFamily="18" charset="0"/>
                <a:cs typeface="Times New Roman" panose="02020603050405020304" pitchFamily="18" charset="0"/>
              </a:rPr>
              <a:t>Ms.K.Gangothri</a:t>
            </a:r>
            <a:r>
              <a:rPr lang="en-GB" sz="2000" b="1" dirty="0">
                <a:solidFill>
                  <a:srgbClr val="0033CC"/>
                </a:solidFill>
                <a:latin typeface="Times New Roman" panose="02020603050405020304" pitchFamily="18" charset="0"/>
                <a:cs typeface="Times New Roman" panose="02020603050405020304" pitchFamily="18" charset="0"/>
              </a:rPr>
              <a:t>, MCA</a:t>
            </a:r>
          </a:p>
          <a:p>
            <a:r>
              <a:rPr lang="en-GB" sz="2000" b="1" dirty="0">
                <a:latin typeface="Times New Roman" panose="02020603050405020304" pitchFamily="18" charset="0"/>
                <a:cs typeface="Times New Roman" panose="02020603050405020304" pitchFamily="18" charset="0"/>
              </a:rPr>
              <a:t> Assistant Professor</a:t>
            </a:r>
          </a:p>
          <a:p>
            <a:r>
              <a:rPr lang="en-GB" sz="2000" b="1" dirty="0">
                <a:latin typeface="Times New Roman" panose="02020603050405020304" pitchFamily="18" charset="0"/>
                <a:cs typeface="Times New Roman" panose="02020603050405020304" pitchFamily="18" charset="0"/>
              </a:rPr>
              <a:t> Department of AI&amp;DS</a:t>
            </a:r>
          </a:p>
          <a:p>
            <a:r>
              <a:rPr lang="en-GB" sz="2000" b="1" dirty="0">
                <a:latin typeface="Times New Roman" panose="02020603050405020304" pitchFamily="18" charset="0"/>
                <a:cs typeface="Times New Roman" panose="02020603050405020304" pitchFamily="18" charset="0"/>
              </a:rPr>
              <a:t> AITS, Tirupati                    </a:t>
            </a:r>
          </a:p>
          <a:p>
            <a:endParaRPr lang="en-GB" sz="2000" b="1" dirty="0"/>
          </a:p>
          <a:p>
            <a:endParaRPr lang="en-IN" sz="2000" b="1" dirty="0"/>
          </a:p>
        </p:txBody>
      </p:sp>
      <p:sp>
        <p:nvSpPr>
          <p:cNvPr id="7" name="TextBox 6">
            <a:extLst>
              <a:ext uri="{FF2B5EF4-FFF2-40B4-BE49-F238E27FC236}">
                <a16:creationId xmlns:a16="http://schemas.microsoft.com/office/drawing/2014/main" id="{06291950-CDEF-40F4-B5F2-0E2FDB884705}"/>
              </a:ext>
            </a:extLst>
          </p:cNvPr>
          <p:cNvSpPr txBox="1"/>
          <p:nvPr/>
        </p:nvSpPr>
        <p:spPr>
          <a:xfrm>
            <a:off x="7200347" y="3167517"/>
            <a:ext cx="4770782" cy="1631216"/>
          </a:xfrm>
          <a:prstGeom prst="rect">
            <a:avLst/>
          </a:prstGeom>
          <a:noFill/>
        </p:spPr>
        <p:txBody>
          <a:bodyPr wrap="square" rtlCol="0">
            <a:spAutoFit/>
          </a:bodyPr>
          <a:lstStyle/>
          <a:p>
            <a:pPr algn="just"/>
            <a:r>
              <a:rPr lang="en-GB" sz="2000" b="1" dirty="0">
                <a:solidFill>
                  <a:srgbClr val="FF0000"/>
                </a:solidFill>
              </a:rPr>
              <a:t>    </a:t>
            </a:r>
            <a:r>
              <a:rPr lang="en-GB" sz="2000" b="1" dirty="0">
                <a:solidFill>
                  <a:srgbClr val="FF0000"/>
                </a:solidFill>
                <a:latin typeface="Times New Roman" panose="02020603050405020304" pitchFamily="18" charset="0"/>
                <a:cs typeface="Times New Roman" panose="02020603050405020304" pitchFamily="18" charset="0"/>
              </a:rPr>
              <a:t>Head of the Department</a:t>
            </a:r>
          </a:p>
          <a:p>
            <a:pPr algn="just"/>
            <a:r>
              <a:rPr lang="en-GB" sz="2000" b="1" dirty="0">
                <a:solidFill>
                  <a:srgbClr val="0033CC"/>
                </a:solidFill>
                <a:latin typeface="Times New Roman" panose="02020603050405020304" pitchFamily="18" charset="0"/>
                <a:cs typeface="Times New Roman" panose="02020603050405020304" pitchFamily="18" charset="0"/>
              </a:rPr>
              <a:t>     </a:t>
            </a:r>
            <a:r>
              <a:rPr lang="en-IN" b="1" dirty="0" err="1">
                <a:solidFill>
                  <a:srgbClr val="0033CC"/>
                </a:solidFill>
                <a:latin typeface="Times New Roman" panose="02020603050405020304" pitchFamily="18" charset="0"/>
                <a:cs typeface="Times New Roman" panose="02020603050405020304" pitchFamily="18" charset="0"/>
              </a:rPr>
              <a:t>Mrs.B.Rupa</a:t>
            </a:r>
            <a:r>
              <a:rPr lang="en-IN" b="1" dirty="0">
                <a:solidFill>
                  <a:srgbClr val="0033CC"/>
                </a:solidFill>
                <a:latin typeface="Times New Roman" panose="02020603050405020304" pitchFamily="18" charset="0"/>
                <a:cs typeface="Times New Roman" panose="02020603050405020304" pitchFamily="18" charset="0"/>
              </a:rPr>
              <a:t> Devi Singh, M. Tech (PhD)</a:t>
            </a:r>
            <a:endParaRPr lang="en-IN" dirty="0">
              <a:solidFill>
                <a:srgbClr val="0033CC"/>
              </a:solidFill>
              <a:latin typeface="Times New Roman" panose="02020603050405020304" pitchFamily="18" charset="0"/>
              <a:cs typeface="Times New Roman" panose="02020603050405020304" pitchFamily="18" charset="0"/>
            </a:endParaRPr>
          </a:p>
          <a:p>
            <a:pPr algn="just"/>
            <a:r>
              <a:rPr lang="en-GB" sz="2000" b="1" dirty="0">
                <a:latin typeface="Times New Roman" panose="02020603050405020304" pitchFamily="18" charset="0"/>
                <a:cs typeface="Times New Roman" panose="02020603050405020304" pitchFamily="18" charset="0"/>
              </a:rPr>
              <a:t>     Associate Professor</a:t>
            </a:r>
          </a:p>
          <a:p>
            <a:pPr algn="just"/>
            <a:r>
              <a:rPr lang="en-GB" sz="2000" b="1" dirty="0">
                <a:latin typeface="Times New Roman" panose="02020603050405020304" pitchFamily="18" charset="0"/>
                <a:cs typeface="Times New Roman" panose="02020603050405020304" pitchFamily="18" charset="0"/>
              </a:rPr>
              <a:t>     Department of AI&amp;DS</a:t>
            </a:r>
          </a:p>
          <a:p>
            <a:pPr algn="just"/>
            <a:r>
              <a:rPr lang="en-GB" sz="2000" b="1" dirty="0">
                <a:latin typeface="Times New Roman" panose="02020603050405020304" pitchFamily="18" charset="0"/>
                <a:cs typeface="Times New Roman" panose="02020603050405020304" pitchFamily="18" charset="0"/>
              </a:rPr>
              <a:t>     AITS, Tirupati</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1934852"/>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6749" y="595994"/>
            <a:ext cx="9404723" cy="695778"/>
          </a:xfrm>
        </p:spPr>
        <p:txBody>
          <a:bodyPr>
            <a:normAutofit/>
          </a:bodyPr>
          <a:lstStyle/>
          <a:p>
            <a:pPr marL="0" indent="0" algn="ctr">
              <a:buNone/>
            </a:pPr>
            <a:r>
              <a:rPr lang="en-US" sz="3200" b="1" dirty="0">
                <a:solidFill>
                  <a:srgbClr val="6666FF"/>
                </a:solidFill>
                <a:latin typeface="Times New Roman" panose="02020603050405020304" pitchFamily="18" charset="0"/>
                <a:cs typeface="Times New Roman" panose="02020603050405020304" pitchFamily="18" charset="0"/>
              </a:rPr>
              <a:t>ABSTRACT</a:t>
            </a:r>
            <a:endParaRPr lang="en-IN" sz="3200" b="1" dirty="0">
              <a:solidFill>
                <a:srgbClr val="6666FF"/>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43CBFF8A-93C4-41C6-ACC3-4E129359EA5D}"/>
              </a:ext>
            </a:extLst>
          </p:cNvPr>
          <p:cNvSpPr>
            <a:spLocks noGrp="1" noChangeArrowheads="1"/>
          </p:cNvSpPr>
          <p:nvPr>
            <p:ph sz="quarter" idx="13"/>
          </p:nvPr>
        </p:nvSpPr>
        <p:spPr bwMode="auto">
          <a:xfrm>
            <a:off x="647374" y="1291772"/>
            <a:ext cx="10631488"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50000"/>
              </a:lnSpc>
              <a:spcBef>
                <a:spcPct val="0"/>
              </a:spcBef>
              <a:spcAft>
                <a:spcPct val="0"/>
              </a:spcAft>
              <a:buClrTx/>
              <a:buSzTx/>
              <a:buNone/>
            </a:pPr>
            <a:r>
              <a:rPr lang="en-US" sz="2000" dirty="0">
                <a:latin typeface="Times New Roman" panose="02020603050405020304" pitchFamily="18" charset="0"/>
                <a:cs typeface="Times New Roman" panose="02020603050405020304" pitchFamily="18" charset="0"/>
              </a:rPr>
              <a:t>Modern web design is becoming more complex, as users expect visually attractive and user-friendly interfaces. Traditional design methods take a lot of time because designers manually create graphics and repeatedly test different </a:t>
            </a:r>
            <a:r>
              <a:rPr lang="en-US" sz="2000" dirty="0" err="1">
                <a:latin typeface="Times New Roman" panose="02020603050405020304" pitchFamily="18" charset="0"/>
                <a:cs typeface="Times New Roman" panose="02020603050405020304" pitchFamily="18" charset="0"/>
              </a:rPr>
              <a:t>design.This</a:t>
            </a:r>
            <a:r>
              <a:rPr lang="en-US" sz="2000" dirty="0">
                <a:latin typeface="Times New Roman" panose="02020603050405020304" pitchFamily="18" charset="0"/>
                <a:cs typeface="Times New Roman" panose="02020603050405020304" pitchFamily="18" charset="0"/>
              </a:rPr>
              <a:t> project introduces an AI-based system that generates web design visuals from text descriptions. Using tools like DALL·E and Stable Diffusion, the system can quickly create high-quality images based on user input. Image generation is improved using a structured prompt process to ensure the designs are accurate and consistent. The generated visuals are then checked using UI/UX factors such as layout, color balance, and accessibility to maintain usability.</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2031255"/>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0241" y="324212"/>
            <a:ext cx="4391518" cy="534130"/>
          </a:xfrm>
        </p:spPr>
        <p:txBody>
          <a:bodyPr>
            <a:normAutofit/>
          </a:bodyPr>
          <a:lstStyle/>
          <a:p>
            <a:pPr marL="0" indent="0" algn="ctr">
              <a:buNone/>
            </a:pPr>
            <a:r>
              <a:rPr lang="en-US" sz="2800" b="1" dirty="0">
                <a:solidFill>
                  <a:srgbClr val="6666FF"/>
                </a:solidFill>
                <a:latin typeface="Times New Roman" panose="02020603050405020304" pitchFamily="18" charset="0"/>
                <a:cs typeface="Times New Roman" panose="02020603050405020304" pitchFamily="18" charset="0"/>
              </a:rPr>
              <a:t>PROBLEM STATEMENT</a:t>
            </a:r>
            <a:endParaRPr lang="en-IN" sz="2800" b="1" dirty="0">
              <a:solidFill>
                <a:srgbClr val="6666FF"/>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7BB7C636-7E37-0579-2C5E-0B98ADA242F3}"/>
              </a:ext>
            </a:extLst>
          </p:cNvPr>
          <p:cNvSpPr>
            <a:spLocks noGrp="1" noChangeArrowheads="1"/>
          </p:cNvSpPr>
          <p:nvPr>
            <p:ph sz="quarter" idx="13"/>
          </p:nvPr>
        </p:nvSpPr>
        <p:spPr bwMode="auto">
          <a:xfrm>
            <a:off x="572981" y="1320005"/>
            <a:ext cx="11046038" cy="4792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 indent="0" algn="just">
              <a:lnSpc>
                <a:spcPct val="150000"/>
              </a:lnSpc>
              <a:buClr>
                <a:schemeClr val="tx1"/>
              </a:buClr>
              <a:buNone/>
            </a:pPr>
            <a:r>
              <a:rPr lang="en-US" sz="2000" dirty="0">
                <a:latin typeface="Times New Roman" panose="02020603050405020304" pitchFamily="18" charset="0"/>
                <a:cs typeface="Times New Roman" panose="02020603050405020304" pitchFamily="18" charset="0"/>
              </a:rPr>
              <a:t>Web design today requires attractive and user-friendly interfaces, but creating visual elements manually is time-consuming and requires strong design skills. Traditional methods depend heavily on designers to create graphics, which slows down the development process and limits creativity.</a:t>
            </a:r>
          </a:p>
          <a:p>
            <a:pPr marL="45720" indent="0">
              <a:lnSpc>
                <a:spcPct val="150000"/>
              </a:lnSpc>
              <a:buClr>
                <a:schemeClr val="tx1"/>
              </a:buClr>
              <a:buNone/>
            </a:pPr>
            <a:r>
              <a:rPr lang="en-US" sz="2000" b="1" dirty="0">
                <a:latin typeface="Times New Roman" panose="02020603050405020304" pitchFamily="18" charset="0"/>
                <a:cs typeface="Times New Roman" panose="02020603050405020304" pitchFamily="18" charset="0"/>
              </a:rPr>
              <a:t>Key Challenges:</a:t>
            </a:r>
            <a:endParaRPr lang="en-US" sz="2000" dirty="0">
              <a:latin typeface="Times New Roman" panose="02020603050405020304" pitchFamily="18" charset="0"/>
              <a:cs typeface="Times New Roman" panose="02020603050405020304" pitchFamily="18" charset="0"/>
            </a:endParaRPr>
          </a:p>
          <a:p>
            <a:pPr>
              <a:lnSpc>
                <a:spcPct val="15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Dependence on skilled designers for creating visuals</a:t>
            </a:r>
          </a:p>
          <a:p>
            <a:pPr>
              <a:lnSpc>
                <a:spcPct val="15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Time-consuming manual design and repeated revisions</a:t>
            </a:r>
          </a:p>
          <a:p>
            <a:pPr>
              <a:lnSpc>
                <a:spcPct val="15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creativity due to use of pre-made templates and assets</a:t>
            </a:r>
          </a:p>
          <a:p>
            <a:pPr>
              <a:lnSpc>
                <a:spcPct val="15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Hard to quickly create unique visuals for different needs</a:t>
            </a:r>
          </a:p>
          <a:p>
            <a:pPr>
              <a:lnSpc>
                <a:spcPct val="150000"/>
              </a:lnSpc>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Multiple changes and feedback cycles slow down progress</a:t>
            </a:r>
          </a:p>
        </p:txBody>
      </p:sp>
    </p:spTree>
    <p:extLst>
      <p:ext uri="{BB962C8B-B14F-4D97-AF65-F5344CB8AC3E}">
        <p14:creationId xmlns:p14="http://schemas.microsoft.com/office/powerpoint/2010/main" val="5035448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389D13-1F81-39B3-A003-8EB039D6C739}"/>
              </a:ext>
            </a:extLst>
          </p:cNvPr>
          <p:cNvSpPr txBox="1"/>
          <p:nvPr/>
        </p:nvSpPr>
        <p:spPr>
          <a:xfrm>
            <a:off x="3250941" y="346398"/>
            <a:ext cx="5783331" cy="523220"/>
          </a:xfrm>
          <a:prstGeom prst="rect">
            <a:avLst/>
          </a:prstGeom>
          <a:noFill/>
        </p:spPr>
        <p:txBody>
          <a:bodyPr wrap="square" rtlCol="0">
            <a:spAutoFit/>
          </a:bodyPr>
          <a:lstStyle/>
          <a:p>
            <a:pPr algn="ctr"/>
            <a:r>
              <a:rPr lang="en-IN" sz="2800" b="1" dirty="0">
                <a:solidFill>
                  <a:srgbClr val="6666FF"/>
                </a:solidFill>
                <a:latin typeface="Times New Roman" panose="02020603050405020304" pitchFamily="18" charset="0"/>
                <a:cs typeface="Times New Roman" panose="02020603050405020304" pitchFamily="18" charset="0"/>
              </a:rPr>
              <a:t>OBJECTIVES</a:t>
            </a:r>
          </a:p>
        </p:txBody>
      </p:sp>
      <p:sp>
        <p:nvSpPr>
          <p:cNvPr id="2" name="Rectangle 1">
            <a:extLst>
              <a:ext uri="{FF2B5EF4-FFF2-40B4-BE49-F238E27FC236}">
                <a16:creationId xmlns:a16="http://schemas.microsoft.com/office/drawing/2014/main" id="{B8C79F12-DF87-C1BE-8B1A-CC5C482C3CAC}"/>
              </a:ext>
            </a:extLst>
          </p:cNvPr>
          <p:cNvSpPr>
            <a:spLocks noChangeArrowheads="1"/>
          </p:cNvSpPr>
          <p:nvPr/>
        </p:nvSpPr>
        <p:spPr bwMode="auto">
          <a:xfrm>
            <a:off x="650594" y="1267488"/>
            <a:ext cx="11303000"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primary objective of this project is to design an AI-based system for generating web design visuals from textual descriptions by integrating generative AI and UI/UX principles. The system uses text-to-image models to automate visual creation and improve design efficiency.</a:t>
            </a:r>
          </a:p>
          <a:p>
            <a:pPr algn="just">
              <a:lnSpc>
                <a:spcPct val="150000"/>
              </a:lnSpc>
            </a:pPr>
            <a:r>
              <a:rPr lang="en-US" sz="2000" b="1" dirty="0">
                <a:latin typeface="Times New Roman" panose="02020603050405020304" pitchFamily="18" charset="0"/>
                <a:cs typeface="Times New Roman" panose="02020603050405020304" pitchFamily="18" charset="0"/>
              </a:rPr>
              <a:t>Objectives:</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an </a:t>
            </a:r>
            <a:r>
              <a:rPr lang="en-US" sz="2000" b="1" dirty="0">
                <a:latin typeface="Times New Roman" panose="02020603050405020304" pitchFamily="18" charset="0"/>
                <a:cs typeface="Times New Roman" panose="02020603050405020304" pitchFamily="18" charset="0"/>
              </a:rPr>
              <a:t>AI-driven text-to-image generation system</a:t>
            </a:r>
            <a:r>
              <a:rPr lang="en-US" sz="2000" dirty="0">
                <a:latin typeface="Times New Roman" panose="02020603050405020304" pitchFamily="18" charset="0"/>
                <a:cs typeface="Times New Roman" panose="02020603050405020304" pitchFamily="18" charset="0"/>
              </a:rPr>
              <a:t> for web design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generate visuals automatically from </a:t>
            </a:r>
            <a:r>
              <a:rPr lang="en-US" sz="2000" b="1" dirty="0">
                <a:latin typeface="Times New Roman" panose="02020603050405020304" pitchFamily="18" charset="0"/>
                <a:cs typeface="Times New Roman" panose="02020603050405020304" pitchFamily="18" charset="0"/>
              </a:rPr>
              <a:t>user-provided text prompts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integrate generated images into </a:t>
            </a:r>
            <a:r>
              <a:rPr lang="en-US" sz="2000" b="1" dirty="0">
                <a:latin typeface="Times New Roman" panose="02020603050405020304" pitchFamily="18" charset="0"/>
                <a:cs typeface="Times New Roman" panose="02020603050405020304" pitchFamily="18" charset="0"/>
              </a:rPr>
              <a:t>web interfaces (HTML, CSS, JavaScript)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evaluate outputs based on </a:t>
            </a:r>
            <a:r>
              <a:rPr lang="en-US" sz="2000" b="1" dirty="0">
                <a:latin typeface="Times New Roman" panose="02020603050405020304" pitchFamily="18" charset="0"/>
                <a:cs typeface="Times New Roman" panose="02020603050405020304" pitchFamily="18" charset="0"/>
              </a:rPr>
              <a:t>UI/UX factors</a:t>
            </a:r>
            <a:r>
              <a:rPr lang="en-US" sz="2000" dirty="0">
                <a:latin typeface="Times New Roman" panose="02020603050405020304" pitchFamily="18" charset="0"/>
                <a:cs typeface="Times New Roman" panose="02020603050405020304" pitchFamily="18" charset="0"/>
              </a:rPr>
              <a:t> like layout, color, and usability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reduce manual effort and dependency on designers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improve creativity and flexibility in web development</a:t>
            </a:r>
          </a:p>
        </p:txBody>
      </p:sp>
    </p:spTree>
    <p:extLst>
      <p:ext uri="{BB962C8B-B14F-4D97-AF65-F5344CB8AC3E}">
        <p14:creationId xmlns:p14="http://schemas.microsoft.com/office/powerpoint/2010/main" val="916710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389D13-1F81-39B3-A003-8EB039D6C739}"/>
              </a:ext>
            </a:extLst>
          </p:cNvPr>
          <p:cNvSpPr txBox="1"/>
          <p:nvPr/>
        </p:nvSpPr>
        <p:spPr>
          <a:xfrm>
            <a:off x="3250941" y="346398"/>
            <a:ext cx="5122505" cy="523220"/>
          </a:xfrm>
          <a:prstGeom prst="rect">
            <a:avLst/>
          </a:prstGeom>
          <a:noFill/>
        </p:spPr>
        <p:txBody>
          <a:bodyPr wrap="square" rtlCol="0">
            <a:spAutoFit/>
          </a:bodyPr>
          <a:lstStyle/>
          <a:p>
            <a:pPr algn="ctr"/>
            <a:r>
              <a:rPr lang="en-IN" sz="2800" b="1" dirty="0">
                <a:solidFill>
                  <a:srgbClr val="6666FF"/>
                </a:solidFill>
                <a:latin typeface="Times New Roman" panose="02020603050405020304" pitchFamily="18" charset="0"/>
                <a:cs typeface="Times New Roman" panose="02020603050405020304" pitchFamily="18" charset="0"/>
              </a:rPr>
              <a:t>LITERATURE SURVEY</a:t>
            </a:r>
            <a:endParaRPr lang="en-US" sz="28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41462943-2A8F-B189-4FD4-D43C6FF04F42}"/>
              </a:ext>
            </a:extLst>
          </p:cNvPr>
          <p:cNvGraphicFramePr>
            <a:graphicFrameLocks noGrp="1"/>
          </p:cNvGraphicFramePr>
          <p:nvPr>
            <p:extLst>
              <p:ext uri="{D42A27DB-BD31-4B8C-83A1-F6EECF244321}">
                <p14:modId xmlns:p14="http://schemas.microsoft.com/office/powerpoint/2010/main" val="1118676543"/>
              </p:ext>
            </p:extLst>
          </p:nvPr>
        </p:nvGraphicFramePr>
        <p:xfrm>
          <a:off x="1097032" y="994110"/>
          <a:ext cx="10095224" cy="5517492"/>
        </p:xfrm>
        <a:graphic>
          <a:graphicData uri="http://schemas.openxmlformats.org/drawingml/2006/table">
            <a:tbl>
              <a:tblPr firstRow="1" bandRow="1">
                <a:tableStyleId>{5C22544A-7EE6-4342-B048-85BDC9FD1C3A}</a:tableStyleId>
              </a:tblPr>
              <a:tblGrid>
                <a:gridCol w="613109">
                  <a:extLst>
                    <a:ext uri="{9D8B030D-6E8A-4147-A177-3AD203B41FA5}">
                      <a16:colId xmlns:a16="http://schemas.microsoft.com/office/drawing/2014/main" val="20000"/>
                    </a:ext>
                  </a:extLst>
                </a:gridCol>
                <a:gridCol w="3021980">
                  <a:extLst>
                    <a:ext uri="{9D8B030D-6E8A-4147-A177-3AD203B41FA5}">
                      <a16:colId xmlns:a16="http://schemas.microsoft.com/office/drawing/2014/main" val="20001"/>
                    </a:ext>
                  </a:extLst>
                </a:gridCol>
                <a:gridCol w="1872320">
                  <a:extLst>
                    <a:ext uri="{9D8B030D-6E8A-4147-A177-3AD203B41FA5}">
                      <a16:colId xmlns:a16="http://schemas.microsoft.com/office/drawing/2014/main" val="20005"/>
                    </a:ext>
                  </a:extLst>
                </a:gridCol>
                <a:gridCol w="2386844">
                  <a:extLst>
                    <a:ext uri="{9D8B030D-6E8A-4147-A177-3AD203B41FA5}">
                      <a16:colId xmlns:a16="http://schemas.microsoft.com/office/drawing/2014/main" val="1161360681"/>
                    </a:ext>
                  </a:extLst>
                </a:gridCol>
                <a:gridCol w="2200971">
                  <a:extLst>
                    <a:ext uri="{9D8B030D-6E8A-4147-A177-3AD203B41FA5}">
                      <a16:colId xmlns:a16="http://schemas.microsoft.com/office/drawing/2014/main" val="1179500303"/>
                    </a:ext>
                  </a:extLst>
                </a:gridCol>
              </a:tblGrid>
              <a:tr h="955247">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Author Names</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Year of Published</a:t>
                      </a:r>
                    </a:p>
                  </a:txBody>
                  <a:tcPr/>
                </a:tc>
                <a:extLst>
                  <a:ext uri="{0D108BD9-81ED-4DB2-BD59-A6C34878D82A}">
                    <a16:rowId xmlns:a16="http://schemas.microsoft.com/office/drawing/2014/main" val="10000"/>
                  </a:ext>
                </a:extLst>
              </a:tr>
              <a:tr h="1355395">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1</a:t>
                      </a: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High-Resolution Image Synthesis with Latent Diffusion Models</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dirty="0">
                          <a:latin typeface="Times New Roman" panose="02020603050405020304" pitchFamily="18" charset="0"/>
                          <a:cs typeface="Times New Roman" panose="02020603050405020304" pitchFamily="18" charset="0"/>
                        </a:rPr>
                        <a:t>Robin Rombach </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Existing models struggled with high-quality image generation and high computational cost</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2022</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extLst>
                  <a:ext uri="{0D108BD9-81ED-4DB2-BD59-A6C34878D82A}">
                    <a16:rowId xmlns:a16="http://schemas.microsoft.com/office/drawing/2014/main" val="10001"/>
                  </a:ext>
                </a:extLst>
              </a:tr>
              <a:tr h="1547500">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a:t>
                      </a: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DALL-E: Creating Images from Text</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dirty="0">
                          <a:latin typeface="Times New Roman" panose="02020603050405020304" pitchFamily="18" charset="0"/>
                          <a:cs typeface="Times New Roman" panose="02020603050405020304" pitchFamily="18" charset="0"/>
                        </a:rPr>
                        <a:t>Aditya Ramesh </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a:t>
                      </a: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Need to generate images directly from natural language descriptions</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2021</a:t>
                      </a:r>
                    </a:p>
                  </a:txBody>
                  <a:tcPr marL="7620" marR="7620" marT="7620" marB="0" anchor="ctr"/>
                </a:tc>
                <a:extLst>
                  <a:ext uri="{0D108BD9-81ED-4DB2-BD59-A6C34878D82A}">
                    <a16:rowId xmlns:a16="http://schemas.microsoft.com/office/drawing/2014/main" val="10002"/>
                  </a:ext>
                </a:extLst>
              </a:tr>
              <a:tr h="1659350">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3</a:t>
                      </a:r>
                    </a:p>
                  </a:txBody>
                  <a:tcPr marL="7620" marR="7620" marT="7620" marB="0" anchor="ctr"/>
                </a:tc>
                <a:tc>
                  <a:txBody>
                    <a:bodyPr/>
                    <a:lstStyle/>
                    <a:p>
                      <a:pPr algn="ctr" fontAlgn="ctr"/>
                      <a:r>
                        <a:rPr lang="en-IN" sz="1600" dirty="0">
                          <a:latin typeface="Times New Roman" panose="02020603050405020304" pitchFamily="18" charset="0"/>
                          <a:cs typeface="Times New Roman" panose="02020603050405020304" pitchFamily="18" charset="0"/>
                        </a:rPr>
                        <a:t>Diffusion Models Beat GANs on Image Synthesis</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dirty="0">
                          <a:latin typeface="Times New Roman" panose="02020603050405020304" pitchFamily="18" charset="0"/>
                          <a:cs typeface="Times New Roman" panose="02020603050405020304" pitchFamily="18" charset="0"/>
                        </a:rPr>
                        <a:t>Prafulla Dhariwal, Alexander Nichol</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GAN models faced instability and poor image quality in some cases</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2021</a:t>
                      </a:r>
                    </a:p>
                  </a:txBody>
                  <a:tcPr marL="7620" marR="7620" marT="7620" marB="0" anchor="ctr"/>
                </a:tc>
                <a:extLst>
                  <a:ext uri="{0D108BD9-81ED-4DB2-BD59-A6C34878D82A}">
                    <a16:rowId xmlns:a16="http://schemas.microsoft.com/office/drawing/2014/main" val="2895788569"/>
                  </a:ext>
                </a:extLst>
              </a:tr>
            </a:tbl>
          </a:graphicData>
        </a:graphic>
      </p:graphicFrame>
    </p:spTree>
    <p:extLst>
      <p:ext uri="{BB962C8B-B14F-4D97-AF65-F5344CB8AC3E}">
        <p14:creationId xmlns:p14="http://schemas.microsoft.com/office/powerpoint/2010/main" val="3179557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C844AE6-425B-1DDC-2110-6084A9082502}"/>
              </a:ext>
            </a:extLst>
          </p:cNvPr>
          <p:cNvGraphicFramePr>
            <a:graphicFrameLocks noGrp="1"/>
          </p:cNvGraphicFramePr>
          <p:nvPr>
            <p:extLst>
              <p:ext uri="{D42A27DB-BD31-4B8C-83A1-F6EECF244321}">
                <p14:modId xmlns:p14="http://schemas.microsoft.com/office/powerpoint/2010/main" val="769568912"/>
              </p:ext>
            </p:extLst>
          </p:nvPr>
        </p:nvGraphicFramePr>
        <p:xfrm>
          <a:off x="1130924" y="836040"/>
          <a:ext cx="9930151" cy="5492814"/>
        </p:xfrm>
        <a:graphic>
          <a:graphicData uri="http://schemas.openxmlformats.org/drawingml/2006/table">
            <a:tbl>
              <a:tblPr firstRow="1" bandRow="1">
                <a:tableStyleId>{5C22544A-7EE6-4342-B048-85BDC9FD1C3A}</a:tableStyleId>
              </a:tblPr>
              <a:tblGrid>
                <a:gridCol w="509408">
                  <a:extLst>
                    <a:ext uri="{9D8B030D-6E8A-4147-A177-3AD203B41FA5}">
                      <a16:colId xmlns:a16="http://schemas.microsoft.com/office/drawing/2014/main" val="2420281553"/>
                    </a:ext>
                  </a:extLst>
                </a:gridCol>
                <a:gridCol w="3066242">
                  <a:extLst>
                    <a:ext uri="{9D8B030D-6E8A-4147-A177-3AD203B41FA5}">
                      <a16:colId xmlns:a16="http://schemas.microsoft.com/office/drawing/2014/main" val="1010494839"/>
                    </a:ext>
                  </a:extLst>
                </a:gridCol>
                <a:gridCol w="1977690">
                  <a:extLst>
                    <a:ext uri="{9D8B030D-6E8A-4147-A177-3AD203B41FA5}">
                      <a16:colId xmlns:a16="http://schemas.microsoft.com/office/drawing/2014/main" val="426881522"/>
                    </a:ext>
                  </a:extLst>
                </a:gridCol>
                <a:gridCol w="2359152">
                  <a:extLst>
                    <a:ext uri="{9D8B030D-6E8A-4147-A177-3AD203B41FA5}">
                      <a16:colId xmlns:a16="http://schemas.microsoft.com/office/drawing/2014/main" val="1714432061"/>
                    </a:ext>
                  </a:extLst>
                </a:gridCol>
                <a:gridCol w="2017659">
                  <a:extLst>
                    <a:ext uri="{9D8B030D-6E8A-4147-A177-3AD203B41FA5}">
                      <a16:colId xmlns:a16="http://schemas.microsoft.com/office/drawing/2014/main" val="319836693"/>
                    </a:ext>
                  </a:extLst>
                </a:gridCol>
              </a:tblGrid>
              <a:tr h="841407">
                <a:tc>
                  <a:txBody>
                    <a:bodyPr/>
                    <a:lstStyle/>
                    <a:p>
                      <a:r>
                        <a:rPr lang="en-US" dirty="0"/>
                        <a:t>S. No</a:t>
                      </a:r>
                    </a:p>
                  </a:txBody>
                  <a:tcPr/>
                </a:tc>
                <a:tc>
                  <a:txBody>
                    <a:bodyPr/>
                    <a:lstStyle/>
                    <a:p>
                      <a:pPr algn="ctr"/>
                      <a:r>
                        <a:rPr lang="en-US" dirty="0"/>
                        <a:t>Title of the Paper</a:t>
                      </a:r>
                    </a:p>
                  </a:txBody>
                  <a:tcPr/>
                </a:tc>
                <a:tc>
                  <a:txBody>
                    <a:bodyPr/>
                    <a:lstStyle/>
                    <a:p>
                      <a:pPr algn="ctr"/>
                      <a:r>
                        <a:rPr lang="en-US" dirty="0"/>
                        <a:t>Author Names</a:t>
                      </a:r>
                    </a:p>
                  </a:txBody>
                  <a:tcPr/>
                </a:tc>
                <a:tc>
                  <a:txBody>
                    <a:bodyPr/>
                    <a:lstStyle/>
                    <a:p>
                      <a:pPr algn="ctr"/>
                      <a:r>
                        <a:rPr lang="en-US" dirty="0"/>
                        <a:t>Problem</a:t>
                      </a:r>
                      <a:r>
                        <a:rPr lang="en-US" baseline="0" dirty="0"/>
                        <a:t> Statement</a:t>
                      </a:r>
                      <a:endParaRPr lang="en-US" dirty="0"/>
                    </a:p>
                  </a:txBody>
                  <a:tcPr/>
                </a:tc>
                <a:tc>
                  <a:txBody>
                    <a:bodyPr/>
                    <a:lstStyle/>
                    <a:p>
                      <a:pPr algn="ctr"/>
                      <a:r>
                        <a:rPr lang="en-US" dirty="0"/>
                        <a:t>Year of Published</a:t>
                      </a:r>
                    </a:p>
                  </a:txBody>
                  <a:tcPr/>
                </a:tc>
                <a:extLst>
                  <a:ext uri="{0D108BD9-81ED-4DB2-BD59-A6C34878D82A}">
                    <a16:rowId xmlns:a16="http://schemas.microsoft.com/office/drawing/2014/main" val="2807502735"/>
                  </a:ext>
                </a:extLst>
              </a:tr>
              <a:tr h="1603407">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4</a:t>
                      </a: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Learning Transferable Visual </a:t>
                      </a:r>
                    </a:p>
                    <a:p>
                      <a:pPr algn="ctr" fontAlgn="ctr"/>
                      <a:r>
                        <a:rPr lang="en-US" sz="1600" dirty="0">
                          <a:latin typeface="Times New Roman" panose="02020603050405020304" pitchFamily="18" charset="0"/>
                          <a:cs typeface="Times New Roman" panose="02020603050405020304" pitchFamily="18" charset="0"/>
                        </a:rPr>
                        <a:t>Models from Natural Language </a:t>
                      </a:r>
                    </a:p>
                    <a:p>
                      <a:pPr algn="ctr" fontAlgn="ctr"/>
                      <a:r>
                        <a:rPr lang="en-US" sz="1600" dirty="0">
                          <a:latin typeface="Times New Roman" panose="02020603050405020304" pitchFamily="18" charset="0"/>
                          <a:cs typeface="Times New Roman" panose="02020603050405020304" pitchFamily="18" charset="0"/>
                        </a:rPr>
                        <a:t>Supervision (CLIP)</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dirty="0">
                          <a:latin typeface="Times New Roman" panose="02020603050405020304" pitchFamily="18" charset="0"/>
                          <a:cs typeface="Times New Roman" panose="02020603050405020304" pitchFamily="18" charset="0"/>
                        </a:rPr>
                        <a:t>Alec Radford</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Difficulty in connecting text understanding with image generation</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2021</a:t>
                      </a:r>
                    </a:p>
                  </a:txBody>
                  <a:tcPr marL="7620" marR="7620" marT="7620" marB="0" anchor="ctr"/>
                </a:tc>
                <a:extLst>
                  <a:ext uri="{0D108BD9-81ED-4DB2-BD59-A6C34878D82A}">
                    <a16:rowId xmlns:a16="http://schemas.microsoft.com/office/drawing/2014/main" val="2526418388"/>
                  </a:ext>
                </a:extLst>
              </a:tr>
              <a:tr h="1524000">
                <a:tc>
                  <a:txBody>
                    <a:bodyPr/>
                    <a:lstStyle/>
                    <a:p>
                      <a:pPr algn="ctr" fontAlgn="ctr"/>
                      <a:r>
                        <a:rPr lang="en-IN" sz="1600" kern="1200" dirty="0">
                          <a:solidFill>
                            <a:schemeClr val="dk1"/>
                          </a:solidFill>
                          <a:effectLst/>
                          <a:latin typeface="Times New Roman" panose="02020603050405020304" pitchFamily="18" charset="0"/>
                          <a:ea typeface="+mn-ea"/>
                          <a:cs typeface="Times New Roman" panose="02020603050405020304" pitchFamily="18" charset="0"/>
                        </a:rPr>
                        <a:t>5</a:t>
                      </a: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Photo realistic Text-to-Image Diffusion Models</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IN" sz="1600" dirty="0">
                          <a:latin typeface="Times New Roman" panose="02020603050405020304" pitchFamily="18" charset="0"/>
                          <a:cs typeface="Times New Roman" panose="02020603050405020304" pitchFamily="18" charset="0"/>
                        </a:rPr>
                        <a:t>Chitwan </a:t>
                      </a:r>
                      <a:r>
                        <a:rPr lang="en-IN" sz="1600" dirty="0" err="1">
                          <a:latin typeface="Times New Roman" panose="02020603050405020304" pitchFamily="18" charset="0"/>
                          <a:cs typeface="Times New Roman" panose="02020603050405020304" pitchFamily="18" charset="0"/>
                        </a:rPr>
                        <a:t>Saharia</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Need for more realistic and accurate image generation from text</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2022</a:t>
                      </a:r>
                    </a:p>
                  </a:txBody>
                  <a:tcPr marL="7620" marR="7620" marT="7620" marB="0" anchor="ctr"/>
                </a:tc>
                <a:extLst>
                  <a:ext uri="{0D108BD9-81ED-4DB2-BD59-A6C34878D82A}">
                    <a16:rowId xmlns:a16="http://schemas.microsoft.com/office/drawing/2014/main" val="4155608855"/>
                  </a:ext>
                </a:extLst>
              </a:tr>
              <a:tr h="1524000">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6</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Adding Conditional Control to Text-to-Image Diffusion Models (ControlNet)</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Lvmin Zhang</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dirty="0">
                          <a:latin typeface="Times New Roman" panose="02020603050405020304" pitchFamily="18" charset="0"/>
                          <a:cs typeface="Times New Roman" panose="02020603050405020304" pitchFamily="18" charset="0"/>
                        </a:rPr>
                        <a:t>Lack of control over generated image structure and details</a:t>
                      </a:r>
                      <a:endParaRPr lang="en-US"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ctr" fontAlgn="ctr"/>
                      <a:r>
                        <a:rPr lang="en-US" sz="1600" kern="1200" dirty="0">
                          <a:solidFill>
                            <a:schemeClr val="dk1"/>
                          </a:solidFill>
                          <a:effectLst/>
                          <a:latin typeface="Times New Roman" panose="02020603050405020304" pitchFamily="18" charset="0"/>
                          <a:ea typeface="+mn-ea"/>
                          <a:cs typeface="Times New Roman" panose="02020603050405020304" pitchFamily="18" charset="0"/>
                        </a:rPr>
                        <a:t>2023</a:t>
                      </a:r>
                    </a:p>
                  </a:txBody>
                  <a:tcPr marL="7620" marR="7620" marT="7620" marB="0" anchor="ctr"/>
                </a:tc>
                <a:extLst>
                  <a:ext uri="{0D108BD9-81ED-4DB2-BD59-A6C34878D82A}">
                    <a16:rowId xmlns:a16="http://schemas.microsoft.com/office/drawing/2014/main" val="3530113769"/>
                  </a:ext>
                </a:extLst>
              </a:tr>
            </a:tbl>
          </a:graphicData>
        </a:graphic>
      </p:graphicFrame>
    </p:spTree>
    <p:extLst>
      <p:ext uri="{BB962C8B-B14F-4D97-AF65-F5344CB8AC3E}">
        <p14:creationId xmlns:p14="http://schemas.microsoft.com/office/powerpoint/2010/main" val="81948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EECEB-F54B-9C84-0FEC-F3318E7BDB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D6249-6475-36E9-B1C3-4684A9486B7C}"/>
              </a:ext>
            </a:extLst>
          </p:cNvPr>
          <p:cNvSpPr>
            <a:spLocks noGrp="1"/>
          </p:cNvSpPr>
          <p:nvPr>
            <p:ph type="title"/>
          </p:nvPr>
        </p:nvSpPr>
        <p:spPr>
          <a:xfrm>
            <a:off x="1452503" y="229541"/>
            <a:ext cx="9286993" cy="778988"/>
          </a:xfrm>
        </p:spPr>
        <p:txBody>
          <a:bodyPr>
            <a:normAutofit/>
          </a:bodyPr>
          <a:lstStyle/>
          <a:p>
            <a:pPr marL="0" indent="0" algn="ctr">
              <a:buNone/>
            </a:pPr>
            <a:r>
              <a:rPr lang="en-US" sz="3200" dirty="0">
                <a:solidFill>
                  <a:srgbClr val="6666FF"/>
                </a:solidFill>
                <a:latin typeface="Times New Roman" panose="02020603050405020304" pitchFamily="18" charset="0"/>
                <a:cs typeface="Times New Roman" panose="02020603050405020304" pitchFamily="18" charset="0"/>
              </a:rPr>
              <a:t>EXISTING SYSTEM &amp; LIMITATIONS</a:t>
            </a:r>
            <a:endParaRPr lang="en-IN" sz="3200" b="1" dirty="0">
              <a:solidFill>
                <a:srgbClr val="6666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C5F10D-499B-0C12-52FC-EEC5FBF06DFD}"/>
              </a:ext>
            </a:extLst>
          </p:cNvPr>
          <p:cNvSpPr>
            <a:spLocks noGrp="1"/>
          </p:cNvSpPr>
          <p:nvPr>
            <p:ph sz="quarter" idx="13"/>
          </p:nvPr>
        </p:nvSpPr>
        <p:spPr>
          <a:xfrm>
            <a:off x="326916" y="1008529"/>
            <a:ext cx="11188256" cy="5763207"/>
          </a:xfrm>
          <a:prstGeom prst="rect">
            <a:avLst/>
          </a:prstGeom>
        </p:spPr>
        <p:txBody>
          <a:bodyPr>
            <a:noAutofit/>
          </a:bodyPr>
          <a:lstStyle/>
          <a:p>
            <a:pPr marL="45720" indent="0" algn="just">
              <a:buNone/>
            </a:pPr>
            <a:r>
              <a:rPr lang="en-US" sz="2000" dirty="0">
                <a:latin typeface="Times New Roman" panose="02020603050405020304" pitchFamily="18" charset="0"/>
                <a:cs typeface="Times New Roman" panose="02020603050405020304" pitchFamily="18" charset="0"/>
              </a:rPr>
              <a:t>In traditional web design systems, visual elements are created manually by designers using tools like graphic editors and UI design software. The process depends heavily on human creativity, predefined templates, and repeated design iterations to build web interfaces. </a:t>
            </a:r>
          </a:p>
          <a:p>
            <a:pPr marL="45720" indent="0">
              <a:buNone/>
            </a:pPr>
            <a:r>
              <a:rPr lang="en-US" sz="2000" b="1" dirty="0">
                <a:latin typeface="Times New Roman" panose="02020603050405020304" pitchFamily="18" charset="0"/>
                <a:cs typeface="Times New Roman" panose="02020603050405020304" pitchFamily="18" charset="0"/>
              </a:rPr>
              <a:t>Techniques Used:</a:t>
            </a:r>
            <a:endParaRPr lang="en-US" sz="2000" dirty="0">
              <a:latin typeface="Times New Roman" panose="02020603050405020304" pitchFamily="18" charset="0"/>
              <a:cs typeface="Times New Roman" panose="02020603050405020304" pitchFamily="18" charset="0"/>
            </a:endParaRPr>
          </a:p>
          <a:p>
            <a:pPr>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Manual design of graphics using tools (Figma, Photoshop, etc.)</a:t>
            </a:r>
          </a:p>
          <a:p>
            <a:pPr>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 of pre-designed templates and UI components</a:t>
            </a:r>
          </a:p>
          <a:p>
            <a:pPr>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Basic rule-based design approaches and static layouts</a:t>
            </a:r>
          </a:p>
          <a:p>
            <a:pPr>
              <a:buClr>
                <a:schemeClr val="tx1"/>
              </a:buCl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Stable Diffusion For Generates images from text prompts</a:t>
            </a:r>
          </a:p>
          <a:p>
            <a:pPr marL="45720" indent="0">
              <a:buClr>
                <a:schemeClr val="tx1"/>
              </a:buClr>
              <a:buNone/>
            </a:pPr>
            <a:r>
              <a:rPr lang="en-US" sz="2000" b="1" dirty="0">
                <a:latin typeface="Times New Roman" panose="02020603050405020304" pitchFamily="18" charset="0"/>
                <a:cs typeface="Times New Roman" panose="02020603050405020304" pitchFamily="18" charset="0"/>
              </a:rPr>
              <a:t>Limitations:</a:t>
            </a:r>
            <a:endParaRPr lang="en-US" sz="2000" dirty="0">
              <a:latin typeface="Times New Roman" panose="02020603050405020304" pitchFamily="18" charset="0"/>
              <a:cs typeface="Times New Roman" panose="02020603050405020304" pitchFamily="18" charset="0"/>
            </a:endParaRPr>
          </a:p>
          <a:p>
            <a:pPr>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Image generation can be slow without GPU support</a:t>
            </a:r>
          </a:p>
          <a:p>
            <a:pPr>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Poor  text input leads to inaccurate outputs </a:t>
            </a:r>
          </a:p>
          <a:p>
            <a:pPr>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Difficult to get exact layout or specific design elements</a:t>
            </a:r>
          </a:p>
          <a:p>
            <a:pPr>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outputs may be blurry or less detailed</a:t>
            </a:r>
          </a:p>
          <a:p>
            <a:pPr>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Multiple generated images may not match the same style/theme perfectly</a:t>
            </a:r>
          </a:p>
        </p:txBody>
      </p:sp>
    </p:spTree>
    <p:extLst>
      <p:ext uri="{BB962C8B-B14F-4D97-AF65-F5344CB8AC3E}">
        <p14:creationId xmlns:p14="http://schemas.microsoft.com/office/powerpoint/2010/main" val="279455096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0EBB2-5AE5-AC93-9D13-E647E6BFF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8DC8A-F8B2-89A5-E4A3-964AF7F91ED8}"/>
              </a:ext>
            </a:extLst>
          </p:cNvPr>
          <p:cNvSpPr>
            <a:spLocks noGrp="1"/>
          </p:cNvSpPr>
          <p:nvPr>
            <p:ph type="title"/>
          </p:nvPr>
        </p:nvSpPr>
        <p:spPr>
          <a:xfrm>
            <a:off x="1452502" y="205930"/>
            <a:ext cx="9286993" cy="778988"/>
          </a:xfrm>
        </p:spPr>
        <p:txBody>
          <a:bodyPr>
            <a:normAutofit/>
          </a:bodyPr>
          <a:lstStyle/>
          <a:p>
            <a:pPr marL="0" indent="0" algn="ctr">
              <a:buNone/>
            </a:pPr>
            <a:r>
              <a:rPr lang="en-US" sz="3200" dirty="0">
                <a:solidFill>
                  <a:srgbClr val="6666FF"/>
                </a:solidFill>
                <a:latin typeface="Times New Roman" panose="02020603050405020304" pitchFamily="18" charset="0"/>
                <a:cs typeface="Times New Roman" panose="02020603050405020304" pitchFamily="18" charset="0"/>
              </a:rPr>
              <a:t>PROPOSED SYSTEM</a:t>
            </a:r>
            <a:endParaRPr lang="en-IN" sz="3200" b="1" dirty="0">
              <a:solidFill>
                <a:srgbClr val="6666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96EE95-C3FE-C5CC-6000-E66ABED70459}"/>
              </a:ext>
            </a:extLst>
          </p:cNvPr>
          <p:cNvSpPr>
            <a:spLocks noGrp="1"/>
          </p:cNvSpPr>
          <p:nvPr>
            <p:ph sz="quarter" idx="13"/>
          </p:nvPr>
        </p:nvSpPr>
        <p:spPr>
          <a:xfrm>
            <a:off x="494768" y="1029869"/>
            <a:ext cx="11202464" cy="4798261"/>
          </a:xfrm>
          <a:prstGeom prst="rect">
            <a:avLst/>
          </a:prstGeom>
        </p:spPr>
        <p:txBody>
          <a:bodyPr>
            <a:noAutofit/>
          </a:bodyPr>
          <a:lstStyle/>
          <a:p>
            <a:pPr marL="45720" indent="0" algn="just">
              <a:buClr>
                <a:schemeClr val="tx1">
                  <a:lumMod val="95000"/>
                  <a:lumOff val="5000"/>
                </a:schemeClr>
              </a:buClr>
              <a:buNone/>
            </a:pPr>
            <a:r>
              <a:rPr lang="en-US" sz="2000" dirty="0">
                <a:latin typeface="Times New Roman" panose="02020603050405020304" pitchFamily="18" charset="0"/>
                <a:cs typeface="Times New Roman" panose="02020603050405020304" pitchFamily="18" charset="0"/>
              </a:rPr>
              <a:t>The proposed system introduces an AI-based text-to-image generation approach for designing web interfaces by integrating Generative AI with web development technologies. It uses advanced models to convert textual descriptions into high-quality visual elements, improving design efficiency and creativity.</a:t>
            </a:r>
          </a:p>
          <a:p>
            <a:pPr marL="45720" indent="0" algn="just">
              <a:buClr>
                <a:schemeClr val="tx1">
                  <a:lumMod val="95000"/>
                  <a:lumOff val="5000"/>
                </a:schemeClr>
              </a:buClr>
              <a:buNone/>
            </a:pPr>
            <a:r>
              <a:rPr lang="en-US" sz="2000" b="1" dirty="0">
                <a:latin typeface="Times New Roman" panose="02020603050405020304" pitchFamily="18" charset="0"/>
                <a:cs typeface="Times New Roman" panose="02020603050405020304" pitchFamily="18" charset="0"/>
              </a:rPr>
              <a:t>Key Features:</a:t>
            </a:r>
            <a:endParaRPr lang="en-US" sz="2000" dirty="0">
              <a:latin typeface="Times New Roman" panose="02020603050405020304" pitchFamily="18" charset="0"/>
              <a:cs typeface="Times New Roman" panose="02020603050405020304" pitchFamily="18" charset="0"/>
            </a:endParaRPr>
          </a:p>
          <a:p>
            <a:pPr>
              <a:buClr>
                <a:schemeClr val="tx1">
                  <a:lumMod val="95000"/>
                  <a:lumOff val="5000"/>
                </a:schemeClr>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Text-to-Image Generation converts user text prompts into visual design elements</a:t>
            </a:r>
          </a:p>
          <a:p>
            <a:pPr>
              <a:buClr>
                <a:schemeClr val="tx1">
                  <a:lumMod val="95000"/>
                  <a:lumOff val="5000"/>
                </a:schemeClr>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manual effort in creating graphics by using </a:t>
            </a:r>
            <a:r>
              <a:rPr lang="en-US" sz="2000" b="1" dirty="0">
                <a:latin typeface="Times New Roman" panose="02020603050405020304" pitchFamily="18" charset="0"/>
                <a:cs typeface="Times New Roman" panose="02020603050405020304" pitchFamily="18" charset="0"/>
              </a:rPr>
              <a:t>Automated Design Process</a:t>
            </a:r>
            <a:r>
              <a:rPr lang="en-US" sz="2000" dirty="0">
                <a:latin typeface="Times New Roman" panose="02020603050405020304" pitchFamily="18" charset="0"/>
                <a:cs typeface="Times New Roman" panose="02020603050405020304" pitchFamily="18" charset="0"/>
              </a:rPr>
              <a:t> </a:t>
            </a:r>
          </a:p>
          <a:p>
            <a:pPr>
              <a:buClr>
                <a:schemeClr val="tx1">
                  <a:lumMod val="95000"/>
                  <a:lumOff val="5000"/>
                </a:schemeClr>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accuracy and consistency of generated images by </a:t>
            </a:r>
            <a:r>
              <a:rPr lang="en-US" sz="2000" b="1" dirty="0">
                <a:latin typeface="Times New Roman" panose="02020603050405020304" pitchFamily="18" charset="0"/>
                <a:cs typeface="Times New Roman" panose="02020603050405020304" pitchFamily="18" charset="0"/>
              </a:rPr>
              <a:t>Prompt Engineering Support</a:t>
            </a:r>
            <a:endParaRPr lang="en-US" sz="2000" dirty="0">
              <a:latin typeface="Times New Roman" panose="02020603050405020304" pitchFamily="18" charset="0"/>
              <a:cs typeface="Times New Roman" panose="02020603050405020304" pitchFamily="18" charset="0"/>
            </a:endParaRPr>
          </a:p>
          <a:p>
            <a:pPr>
              <a:buClr>
                <a:schemeClr val="tx1">
                  <a:lumMod val="95000"/>
                  <a:lumOff val="5000"/>
                </a:schemeClr>
              </a:buCl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Uses </a:t>
            </a:r>
            <a:r>
              <a:rPr lang="en-IN" sz="2000" b="1" dirty="0">
                <a:latin typeface="Times New Roman" panose="02020603050405020304" pitchFamily="18" charset="0"/>
                <a:cs typeface="Times New Roman" panose="02020603050405020304" pitchFamily="18" charset="0"/>
              </a:rPr>
              <a:t>Generative AI </a:t>
            </a:r>
            <a:r>
              <a:rPr lang="en-IN" sz="2000" dirty="0">
                <a:latin typeface="Times New Roman" panose="02020603050405020304" pitchFamily="18" charset="0"/>
                <a:cs typeface="Times New Roman" panose="02020603050405020304" pitchFamily="18" charset="0"/>
              </a:rPr>
              <a:t>like Stable Diffusion for image generation</a:t>
            </a:r>
          </a:p>
          <a:p>
            <a:pPr>
              <a:buClr>
                <a:schemeClr val="tx1">
                  <a:lumMod val="95000"/>
                  <a:lumOff val="5000"/>
                </a:schemeClr>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Easily integrates images into web pages (HTML, CSS, JavaScript)</a:t>
            </a:r>
          </a:p>
        </p:txBody>
      </p:sp>
    </p:spTree>
    <p:extLst>
      <p:ext uri="{BB962C8B-B14F-4D97-AF65-F5344CB8AC3E}">
        <p14:creationId xmlns:p14="http://schemas.microsoft.com/office/powerpoint/2010/main" val="2294982119"/>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 descr="Generated image">
            <a:extLst>
              <a:ext uri="{FF2B5EF4-FFF2-40B4-BE49-F238E27FC236}">
                <a16:creationId xmlns:a16="http://schemas.microsoft.com/office/drawing/2014/main" id="{C6710303-5571-C446-D405-9D5A44C3460A}"/>
              </a:ext>
            </a:extLst>
          </p:cNvPr>
          <p:cNvSpPr>
            <a:spLocks noChangeAspect="1" noChangeArrowheads="1"/>
          </p:cNvSpPr>
          <p:nvPr/>
        </p:nvSpPr>
        <p:spPr bwMode="auto">
          <a:xfrm>
            <a:off x="5943600" y="3276600"/>
            <a:ext cx="2429846" cy="242984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5" descr="Generated image">
            <a:extLst>
              <a:ext uri="{FF2B5EF4-FFF2-40B4-BE49-F238E27FC236}">
                <a16:creationId xmlns:a16="http://schemas.microsoft.com/office/drawing/2014/main" id="{F52E76F2-5694-F264-A67A-803B822750D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7">
            <a:extLst>
              <a:ext uri="{FF2B5EF4-FFF2-40B4-BE49-F238E27FC236}">
                <a16:creationId xmlns:a16="http://schemas.microsoft.com/office/drawing/2014/main" id="{5F991642-A003-1C35-537C-0F691207503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2C88BEAD-0FEC-DDD7-8B1F-1AABFBBB9911}"/>
              </a:ext>
            </a:extLst>
          </p:cNvPr>
          <p:cNvSpPr txBox="1"/>
          <p:nvPr/>
        </p:nvSpPr>
        <p:spPr>
          <a:xfrm>
            <a:off x="491410" y="874681"/>
            <a:ext cx="11225669" cy="132343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model architecture of this project is based on a Generative AI text-to-image framework, specifically using a diffusion-based model such as Stable Diffusion to generate visual elements for web interfaces from textual input. The system begins with the user providing a descriptive text prompt that defines the desired visual content, such as a banner, icon, or background for a web page.</a:t>
            </a:r>
          </a:p>
        </p:txBody>
      </p:sp>
      <p:sp>
        <p:nvSpPr>
          <p:cNvPr id="6" name="Title 1">
            <a:extLst>
              <a:ext uri="{FF2B5EF4-FFF2-40B4-BE49-F238E27FC236}">
                <a16:creationId xmlns:a16="http://schemas.microsoft.com/office/drawing/2014/main" id="{BE6B3948-5E67-61F3-9A30-571B14CA95A2}"/>
              </a:ext>
            </a:extLst>
          </p:cNvPr>
          <p:cNvSpPr>
            <a:spLocks noGrp="1"/>
          </p:cNvSpPr>
          <p:nvPr>
            <p:ph type="title"/>
          </p:nvPr>
        </p:nvSpPr>
        <p:spPr>
          <a:xfrm>
            <a:off x="1452503" y="170124"/>
            <a:ext cx="9286993" cy="778988"/>
          </a:xfrm>
        </p:spPr>
        <p:txBody>
          <a:bodyPr>
            <a:normAutofit/>
          </a:bodyPr>
          <a:lstStyle/>
          <a:p>
            <a:pPr marL="0" indent="0" algn="ctr">
              <a:buNone/>
            </a:pPr>
            <a:r>
              <a:rPr lang="en-US" sz="3200" dirty="0">
                <a:solidFill>
                  <a:srgbClr val="6666FF"/>
                </a:solidFill>
                <a:latin typeface="Times New Roman" panose="02020603050405020304" pitchFamily="18" charset="0"/>
                <a:cs typeface="Times New Roman" panose="02020603050405020304" pitchFamily="18" charset="0"/>
              </a:rPr>
              <a:t>MODEL ARCHITECTURE</a:t>
            </a:r>
            <a:endParaRPr lang="en-IN" sz="3200" b="1" dirty="0">
              <a:solidFill>
                <a:srgbClr val="6666FF"/>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83E4977E-310F-A34E-1D17-4D46F903E202}"/>
              </a:ext>
            </a:extLst>
          </p:cNvPr>
          <p:cNvPicPr>
            <a:picLocks noChangeAspect="1"/>
          </p:cNvPicPr>
          <p:nvPr/>
        </p:nvPicPr>
        <p:blipFill>
          <a:blip r:embed="rId2"/>
          <a:stretch>
            <a:fillRect/>
          </a:stretch>
        </p:blipFill>
        <p:spPr>
          <a:xfrm>
            <a:off x="1870799" y="2802568"/>
            <a:ext cx="8450402" cy="3379308"/>
          </a:xfrm>
          <a:prstGeom prst="rect">
            <a:avLst/>
          </a:prstGeom>
        </p:spPr>
      </p:pic>
    </p:spTree>
    <p:extLst>
      <p:ext uri="{BB962C8B-B14F-4D97-AF65-F5344CB8AC3E}">
        <p14:creationId xmlns:p14="http://schemas.microsoft.com/office/powerpoint/2010/main" val="3571500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061AAB-A4F8-9FB0-D304-B26FD530E5EE}"/>
              </a:ext>
            </a:extLst>
          </p:cNvPr>
          <p:cNvSpPr txBox="1"/>
          <p:nvPr/>
        </p:nvSpPr>
        <p:spPr>
          <a:xfrm>
            <a:off x="682698" y="409679"/>
            <a:ext cx="10018528" cy="5575694"/>
          </a:xfrm>
          <a:prstGeom prst="rect">
            <a:avLst/>
          </a:prstGeom>
          <a:noFill/>
        </p:spPr>
        <p:txBody>
          <a:bodyPr wrap="square">
            <a:spAutoFit/>
          </a:bodyPr>
          <a:lstStyle/>
          <a:p>
            <a:pPr>
              <a:lnSpc>
                <a:spcPct val="150000"/>
              </a:lnSpc>
              <a:buNone/>
            </a:pPr>
            <a:r>
              <a:rPr lang="en-IN" sz="2000" b="1" dirty="0">
                <a:latin typeface="Times New Roman" panose="02020603050405020304" pitchFamily="18" charset="0"/>
                <a:cs typeface="Times New Roman" panose="02020603050405020304" pitchFamily="18" charset="0"/>
              </a:rPr>
              <a:t>Model Components:</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Input Layer: </a:t>
            </a:r>
            <a:r>
              <a:rPr lang="en-US" sz="2000" dirty="0">
                <a:latin typeface="Times New Roman" panose="02020603050405020304" pitchFamily="18" charset="0"/>
                <a:cs typeface="Times New Roman" panose="02020603050405020304" pitchFamily="18" charset="0"/>
              </a:rPr>
              <a:t>User enters text prompt through Django web interface.</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Prompt Processing</a:t>
            </a:r>
            <a:r>
              <a:rPr lang="en-US" sz="2000" dirty="0">
                <a:latin typeface="Times New Roman" panose="02020603050405020304" pitchFamily="18" charset="0"/>
                <a:cs typeface="Times New Roman" panose="02020603050405020304" pitchFamily="18" charset="0"/>
              </a:rPr>
              <a:t> → Enhances text using prompt engineering (style, quality, clarity)</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Text Encoder (CLIP)</a:t>
            </a:r>
            <a:r>
              <a:rPr lang="en-US" sz="2000" dirty="0">
                <a:latin typeface="Times New Roman" panose="02020603050405020304" pitchFamily="18" charset="0"/>
                <a:cs typeface="Times New Roman" panose="02020603050405020304" pitchFamily="18" charset="0"/>
              </a:rPr>
              <a:t> → Converts text into numerical embeddings (understands meaning)</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Diffusion Model (Stable Diffusion)</a:t>
            </a:r>
            <a:r>
              <a:rPr lang="en-IN" sz="2000" dirty="0">
                <a:latin typeface="Times New Roman" panose="02020603050405020304" pitchFamily="18" charset="0"/>
                <a:cs typeface="Times New Roman" panose="02020603050405020304" pitchFamily="18" charset="0"/>
              </a:rPr>
              <a:t> → Generates image from noise using text guidance</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Post-Processing</a:t>
            </a:r>
            <a:r>
              <a:rPr lang="en-US" sz="2000" dirty="0">
                <a:latin typeface="Times New Roman" panose="02020603050405020304" pitchFamily="18" charset="0"/>
                <a:cs typeface="Times New Roman" panose="02020603050405020304" pitchFamily="18" charset="0"/>
              </a:rPr>
              <a:t> → Adjusts size, resolution, and format for web usage</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Web Integration Layer</a:t>
            </a:r>
            <a:r>
              <a:rPr lang="en-IN" sz="2000" dirty="0">
                <a:latin typeface="Times New Roman" panose="02020603050405020304" pitchFamily="18" charset="0"/>
                <a:cs typeface="Times New Roman" panose="02020603050405020304" pitchFamily="18" charset="0"/>
              </a:rPr>
              <a:t> → Displays output using HTML, CSS, JavaScript (Django backend)</a:t>
            </a:r>
          </a:p>
          <a:p>
            <a:pPr marL="34290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Training Configuration:</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Pretrained Model</a:t>
            </a:r>
            <a:r>
              <a:rPr lang="en-US" sz="2000" dirty="0">
                <a:latin typeface="Times New Roman" panose="02020603050405020304" pitchFamily="18" charset="0"/>
                <a:cs typeface="Times New Roman" panose="02020603050405020304" pitchFamily="18" charset="0"/>
              </a:rPr>
              <a:t> → Uses pretrained Stable Diffusion (no heavy training required)</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Inference Process</a:t>
            </a:r>
            <a:r>
              <a:rPr lang="en-US" sz="2000" dirty="0">
                <a:latin typeface="Times New Roman" panose="02020603050405020304" pitchFamily="18" charset="0"/>
                <a:cs typeface="Times New Roman" panose="02020603050405020304" pitchFamily="18" charset="0"/>
              </a:rPr>
              <a:t> → Generates images based on input prompts</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Parameter Tuning</a:t>
            </a:r>
            <a:r>
              <a:rPr lang="en-US" sz="2000" dirty="0">
                <a:latin typeface="Times New Roman" panose="02020603050405020304" pitchFamily="18" charset="0"/>
                <a:cs typeface="Times New Roman" panose="02020603050405020304" pitchFamily="18" charset="0"/>
              </a:rPr>
              <a:t> → Adjusts steps, guidance scale for better output quality</a:t>
            </a:r>
          </a:p>
        </p:txBody>
      </p:sp>
    </p:spTree>
    <p:extLst>
      <p:ext uri="{BB962C8B-B14F-4D97-AF65-F5344CB8AC3E}">
        <p14:creationId xmlns:p14="http://schemas.microsoft.com/office/powerpoint/2010/main" val="437894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2503" y="159719"/>
            <a:ext cx="9286993" cy="659640"/>
          </a:xfrm>
        </p:spPr>
        <p:txBody>
          <a:bodyPr>
            <a:normAutofit/>
          </a:bodyPr>
          <a:lstStyle/>
          <a:p>
            <a:pPr marL="0" indent="0" algn="ctr">
              <a:buNone/>
            </a:pPr>
            <a:r>
              <a:rPr lang="en-US" sz="2800" dirty="0">
                <a:solidFill>
                  <a:srgbClr val="6666FF"/>
                </a:solidFill>
                <a:latin typeface="Times New Roman" panose="02020603050405020304" pitchFamily="18" charset="0"/>
                <a:cs typeface="Times New Roman" panose="02020603050405020304" pitchFamily="18" charset="0"/>
              </a:rPr>
              <a:t>SYSTEM WORKFLOW</a:t>
            </a:r>
            <a:endParaRPr lang="en-IN" sz="2800" b="1" dirty="0">
              <a:solidFill>
                <a:srgbClr val="6666FF"/>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A4C40AA-D2E1-C22B-0ADD-26C46738668D}"/>
              </a:ext>
            </a:extLst>
          </p:cNvPr>
          <p:cNvSpPr txBox="1"/>
          <p:nvPr/>
        </p:nvSpPr>
        <p:spPr>
          <a:xfrm>
            <a:off x="674479" y="690066"/>
            <a:ext cx="11341058" cy="6801862"/>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User Input:</a:t>
            </a:r>
            <a:r>
              <a:rPr lang="en-US" sz="2000" dirty="0">
                <a:latin typeface="Times New Roman" panose="02020603050405020304" pitchFamily="18" charset="0"/>
                <a:cs typeface="Times New Roman" panose="02020603050405020304" pitchFamily="18" charset="0"/>
              </a:rPr>
              <a:t> </a:t>
            </a:r>
          </a:p>
          <a:p>
            <a:pPr algn="just">
              <a:lnSpc>
                <a:spcPct val="150000"/>
              </a:lnSpc>
            </a:pPr>
            <a:r>
              <a:rPr lang="en-US" sz="2000" dirty="0">
                <a:latin typeface="Times New Roman" panose="02020603050405020304" pitchFamily="18" charset="0"/>
                <a:cs typeface="Times New Roman" panose="02020603050405020304" pitchFamily="18" charset="0"/>
              </a:rPr>
              <a:t>The process begins with the user registering or logging into the web application and providing a natural language text prompt describing the desired image. The user also selects a preferred image style (Realistic, Iconic, or Algerian).</a:t>
            </a:r>
          </a:p>
          <a:p>
            <a:pPr>
              <a:lnSpc>
                <a:spcPct val="150000"/>
              </a:lnSpc>
            </a:pPr>
            <a:r>
              <a:rPr lang="en-IN" sz="2000" b="1" dirty="0">
                <a:latin typeface="Times New Roman" panose="02020603050405020304" pitchFamily="18" charset="0"/>
                <a:cs typeface="Times New Roman" panose="02020603050405020304" pitchFamily="18" charset="0"/>
              </a:rPr>
              <a:t>Prompt Preprocessing and Enhancement:</a:t>
            </a:r>
          </a:p>
          <a:p>
            <a:pPr algn="just"/>
            <a:r>
              <a:rPr lang="en-US" sz="2000" dirty="0">
                <a:latin typeface="Times New Roman" panose="02020603050405020304" pitchFamily="18" charset="0"/>
                <a:cs typeface="Times New Roman" panose="02020603050405020304" pitchFamily="18" charset="0"/>
              </a:rPr>
              <a:t>The raw user prompt undergoes validation and enhancement. Style-specific keywords and quality boosters are added to improve semantic richness. A set of negative prompts is also applied to suppress unwanted artifacts such as blur, distortion, and low quality.</a:t>
            </a:r>
          </a:p>
          <a:p>
            <a:pPr algn="just"/>
            <a:r>
              <a:rPr lang="en-IN" sz="2000" b="1" dirty="0">
                <a:latin typeface="Times New Roman" panose="02020603050405020304" pitchFamily="18" charset="0"/>
                <a:cs typeface="Times New Roman" panose="02020603050405020304" pitchFamily="18" charset="0"/>
              </a:rPr>
              <a:t>Diffusion Process (Core Generation):</a:t>
            </a:r>
          </a:p>
          <a:p>
            <a:pPr algn="just"/>
            <a:r>
              <a:rPr lang="en-US" sz="2000" dirty="0">
                <a:latin typeface="Times New Roman" panose="02020603050405020304" pitchFamily="18" charset="0"/>
                <a:cs typeface="Times New Roman" panose="02020603050405020304" pitchFamily="18" charset="0"/>
              </a:rPr>
              <a:t>The text embeddings are fed into the Stable Diffusion pipeline. The model starts with random noise in the latent space and iteratively denoises it over multiple steps (typically 45 steps) guided by the text embeddings to generate a coherent latent image representation.</a:t>
            </a:r>
          </a:p>
          <a:p>
            <a:pPr algn="just"/>
            <a:r>
              <a:rPr lang="en-IN" sz="2000" b="1" dirty="0">
                <a:latin typeface="Times New Roman" panose="02020603050405020304" pitchFamily="18" charset="0"/>
                <a:cs typeface="Times New Roman" panose="02020603050405020304" pitchFamily="18" charset="0"/>
              </a:rPr>
              <a:t>Image Decoding:</a:t>
            </a:r>
          </a:p>
          <a:p>
            <a:pPr algn="just"/>
            <a:r>
              <a:rPr lang="en-US" sz="2000" dirty="0">
                <a:latin typeface="Times New Roman" panose="02020603050405020304" pitchFamily="18" charset="0"/>
                <a:cs typeface="Times New Roman" panose="02020603050405020304" pitchFamily="18" charset="0"/>
              </a:rPr>
              <a:t>The latent representation is passed through the Variational Autoencoder (VAE) decoder to produce the final high-quality image in pixel space.</a:t>
            </a:r>
          </a:p>
          <a:p>
            <a:pPr algn="just"/>
            <a:r>
              <a:rPr lang="en-IN" sz="2000" b="1" dirty="0">
                <a:latin typeface="Times New Roman" panose="02020603050405020304" pitchFamily="18" charset="0"/>
                <a:cs typeface="Times New Roman" panose="02020603050405020304" pitchFamily="18" charset="0"/>
              </a:rPr>
              <a:t>Output Display:</a:t>
            </a:r>
          </a:p>
          <a:p>
            <a:pPr algn="just"/>
            <a:r>
              <a:rPr lang="en-US" sz="2000" dirty="0">
                <a:latin typeface="Times New Roman" panose="02020603050405020304" pitchFamily="18" charset="0"/>
                <a:cs typeface="Times New Roman" panose="02020603050405020304" pitchFamily="18" charset="0"/>
              </a:rPr>
              <a:t>The generated image is displayed to the user on the web interface along with options to download or generate new variations.</a:t>
            </a:r>
          </a:p>
          <a:p>
            <a:pPr algn="just"/>
            <a:endParaRPr lang="en-US" sz="2000" dirty="0">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5111175"/>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58902-A3ED-5460-BB39-57CBA4E4B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4696C-BE2B-BD43-F35C-47F58F24D926}"/>
              </a:ext>
            </a:extLst>
          </p:cNvPr>
          <p:cNvSpPr>
            <a:spLocks noGrp="1"/>
          </p:cNvSpPr>
          <p:nvPr>
            <p:ph type="title"/>
          </p:nvPr>
        </p:nvSpPr>
        <p:spPr>
          <a:xfrm>
            <a:off x="1452502" y="412835"/>
            <a:ext cx="9286993" cy="778988"/>
          </a:xfrm>
        </p:spPr>
        <p:txBody>
          <a:bodyPr>
            <a:normAutofit/>
          </a:bodyPr>
          <a:lstStyle/>
          <a:p>
            <a:pPr marL="0" indent="0" algn="ctr">
              <a:buNone/>
            </a:pPr>
            <a:r>
              <a:rPr lang="en-US" sz="2800" dirty="0">
                <a:solidFill>
                  <a:srgbClr val="6666FF"/>
                </a:solidFill>
                <a:latin typeface="Times New Roman" panose="02020603050405020304" pitchFamily="18" charset="0"/>
                <a:cs typeface="Times New Roman" panose="02020603050405020304" pitchFamily="18" charset="0"/>
              </a:rPr>
              <a:t>COMPLETE FEATURE ENGINEERING PIPELINE</a:t>
            </a:r>
            <a:endParaRPr lang="en-IN" sz="2800" b="1" dirty="0">
              <a:solidFill>
                <a:srgbClr val="6666FF"/>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E8935CC-4D13-C7A8-DACE-02414B8A3093}"/>
              </a:ext>
            </a:extLst>
          </p:cNvPr>
          <p:cNvPicPr>
            <a:picLocks noChangeAspect="1"/>
          </p:cNvPicPr>
          <p:nvPr/>
        </p:nvPicPr>
        <p:blipFill>
          <a:blip r:embed="rId2"/>
          <a:stretch>
            <a:fillRect/>
          </a:stretch>
        </p:blipFill>
        <p:spPr>
          <a:xfrm>
            <a:off x="1883112" y="994611"/>
            <a:ext cx="8425772" cy="5783179"/>
          </a:xfrm>
          <a:prstGeom prst="rect">
            <a:avLst/>
          </a:prstGeom>
        </p:spPr>
      </p:pic>
    </p:spTree>
    <p:extLst>
      <p:ext uri="{BB962C8B-B14F-4D97-AF65-F5344CB8AC3E}">
        <p14:creationId xmlns:p14="http://schemas.microsoft.com/office/powerpoint/2010/main" val="3191742377"/>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46716EA-DF00-852D-27BD-8E50B6E03EEE}"/>
              </a:ext>
            </a:extLst>
          </p:cNvPr>
          <p:cNvSpPr txBox="1">
            <a:spLocks/>
          </p:cNvSpPr>
          <p:nvPr/>
        </p:nvSpPr>
        <p:spPr>
          <a:xfrm>
            <a:off x="1452503" y="186879"/>
            <a:ext cx="9286993" cy="837046"/>
          </a:xfrm>
          <a:prstGeom prst="rect">
            <a:avLst/>
          </a:prstGeom>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itchFamily="18" charset="0"/>
              <a:buNone/>
            </a:pPr>
            <a:r>
              <a:rPr lang="en-IN" sz="2800" dirty="0">
                <a:solidFill>
                  <a:srgbClr val="6666FF"/>
                </a:solidFill>
                <a:latin typeface="Times New Roman" panose="02020603050405020304" pitchFamily="18" charset="0"/>
                <a:cs typeface="Times New Roman" panose="02020603050405020304" pitchFamily="18" charset="0"/>
              </a:rPr>
              <a:t>PERFORMANCE EVALUATION METRICS </a:t>
            </a:r>
          </a:p>
        </p:txBody>
      </p:sp>
      <p:sp>
        <p:nvSpPr>
          <p:cNvPr id="4" name="TextBox 3">
            <a:extLst>
              <a:ext uri="{FF2B5EF4-FFF2-40B4-BE49-F238E27FC236}">
                <a16:creationId xmlns:a16="http://schemas.microsoft.com/office/drawing/2014/main" id="{571DF105-54B8-EF3D-B932-B8CD65127F49}"/>
              </a:ext>
            </a:extLst>
          </p:cNvPr>
          <p:cNvSpPr txBox="1"/>
          <p:nvPr/>
        </p:nvSpPr>
        <p:spPr>
          <a:xfrm>
            <a:off x="543816" y="838013"/>
            <a:ext cx="11247132" cy="7423635"/>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Prompt Adherence: </a:t>
            </a:r>
            <a:r>
              <a:rPr lang="en-US" sz="2000" dirty="0">
                <a:latin typeface="Times New Roman" panose="02020603050405020304" pitchFamily="18" charset="0"/>
                <a:cs typeface="Times New Roman" panose="02020603050405020304" pitchFamily="18" charset="0"/>
              </a:rPr>
              <a:t>Measures how accurately the generated image reflects the content, objects, and intent described in the user’s text prompt.</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Visual Quality: </a:t>
            </a:r>
            <a:r>
              <a:rPr lang="en-US" sz="2000" dirty="0">
                <a:latin typeface="Times New Roman" panose="02020603050405020304" pitchFamily="18" charset="0"/>
                <a:cs typeface="Times New Roman" panose="02020603050405020304" pitchFamily="18" charset="0"/>
              </a:rPr>
              <a:t>Assesses the overall clarity, sharpness, detail, and aesthetic appeal of the generated images. Factors such as resolution, color harmony, and absence of artifacts (blur, distortion, noise) are considered.</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Creativity and Diversity: </a:t>
            </a:r>
            <a:r>
              <a:rPr lang="en-US" sz="2000" dirty="0">
                <a:latin typeface="Times New Roman" panose="02020603050405020304" pitchFamily="18" charset="0"/>
                <a:cs typeface="Times New Roman" panose="02020603050405020304" pitchFamily="18" charset="0"/>
              </a:rPr>
              <a:t>Measures the model’s ability to generate varied and visually appealing outputs for similar prompts, which is essential for creative design tasks.</a:t>
            </a:r>
          </a:p>
          <a:p>
            <a:pPr marL="342900" indent="-342900"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User Satisfaction: </a:t>
            </a:r>
            <a:r>
              <a:rPr lang="en-US" sz="2000" dirty="0">
                <a:latin typeface="Times New Roman" panose="02020603050405020304" pitchFamily="18" charset="0"/>
                <a:cs typeface="Times New Roman" panose="02020603050405020304" pitchFamily="18" charset="0"/>
              </a:rPr>
              <a:t>Subjective feedback on the usefulness and relevance of the generated images for web page design and interface construction.</a:t>
            </a:r>
          </a:p>
          <a:p>
            <a:pPr algn="just">
              <a:lnSpc>
                <a:spcPct val="150000"/>
              </a:lnSpc>
            </a:pPr>
            <a:r>
              <a:rPr lang="en-IN" sz="2000" b="1" dirty="0"/>
              <a:t>Evaluation Approach:</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Multiple test prompts covering different categories (landscapes, objects, abstract designs, web banners, etc.) were used.</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Outputs were visually inspected and compared across different styles and prompts</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898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6001C7-6587-29BB-D9F9-49D300D3E993}"/>
              </a:ext>
            </a:extLst>
          </p:cNvPr>
          <p:cNvSpPr txBox="1">
            <a:spLocks/>
          </p:cNvSpPr>
          <p:nvPr/>
        </p:nvSpPr>
        <p:spPr>
          <a:xfrm>
            <a:off x="1452503" y="217867"/>
            <a:ext cx="9286993" cy="837046"/>
          </a:xfrm>
          <a:prstGeom prst="rect">
            <a:avLst/>
          </a:prstGeom>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itchFamily="18" charset="0"/>
              <a:buNone/>
            </a:pPr>
            <a:r>
              <a:rPr lang="en-IN" sz="2800" dirty="0">
                <a:solidFill>
                  <a:srgbClr val="6666FF"/>
                </a:solidFill>
                <a:latin typeface="Times New Roman" panose="02020603050405020304" pitchFamily="18" charset="0"/>
                <a:cs typeface="Times New Roman" panose="02020603050405020304" pitchFamily="18" charset="0"/>
              </a:rPr>
              <a:t>RESULTS &amp; ANALYSIS</a:t>
            </a:r>
          </a:p>
        </p:txBody>
      </p:sp>
      <p:sp>
        <p:nvSpPr>
          <p:cNvPr id="3" name="TextBox 2">
            <a:extLst>
              <a:ext uri="{FF2B5EF4-FFF2-40B4-BE49-F238E27FC236}">
                <a16:creationId xmlns:a16="http://schemas.microsoft.com/office/drawing/2014/main" id="{797A110D-E56A-926D-67F9-44CA595DD736}"/>
              </a:ext>
            </a:extLst>
          </p:cNvPr>
          <p:cNvSpPr txBox="1"/>
          <p:nvPr/>
        </p:nvSpPr>
        <p:spPr>
          <a:xfrm>
            <a:off x="587006" y="1043026"/>
            <a:ext cx="11017986" cy="6038641"/>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 diverse set of test prompts covering various categories (web banners, landscapes, UI elements, abstract designs, and objects) was used to analyze the system’s effectiveness. The evaluation focused on the quality and usability of the generated images for web page interface design.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produces high-quality, visually appealing images with good prompt adherence, successfully translating user textual descriptions into relevant visuals.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use of prompt enhancement techniques and negative prompts significantly reduced common artifacts such as blur, distortion, and low-quality elements.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probabilistic nature of the diffusion process provided useful diversity in outputs, allowing users to generate multiple creative variations for the same prompt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results &amp; Analysis confirm that the proposed AI-Driven Text-to-Image Web Design Framework performs effectively in generating usable visual elements for web page construction. The system delivers reliable, creative, and high-quality outputs, validating its practical applicability in modern web development workflows.</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1584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350BAED-A4C0-D063-5A3E-B8F7971DF2D1}"/>
              </a:ext>
            </a:extLst>
          </p:cNvPr>
          <p:cNvSpPr txBox="1">
            <a:spLocks/>
          </p:cNvSpPr>
          <p:nvPr/>
        </p:nvSpPr>
        <p:spPr>
          <a:xfrm>
            <a:off x="1452503" y="217867"/>
            <a:ext cx="9286993" cy="837046"/>
          </a:xfrm>
          <a:prstGeom prst="rect">
            <a:avLst/>
          </a:prstGeom>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itchFamily="18" charset="0"/>
              <a:buNone/>
            </a:pPr>
            <a:r>
              <a:rPr lang="en-IN" sz="2800" dirty="0">
                <a:solidFill>
                  <a:srgbClr val="6666FF"/>
                </a:solidFill>
                <a:latin typeface="Times New Roman" panose="02020603050405020304" pitchFamily="18" charset="0"/>
                <a:cs typeface="Times New Roman" panose="02020603050405020304" pitchFamily="18" charset="0"/>
              </a:rPr>
              <a:t>SYSTEM OUTPUT</a:t>
            </a:r>
          </a:p>
        </p:txBody>
      </p:sp>
      <p:sp>
        <p:nvSpPr>
          <p:cNvPr id="7" name="TextBox 6">
            <a:extLst>
              <a:ext uri="{FF2B5EF4-FFF2-40B4-BE49-F238E27FC236}">
                <a16:creationId xmlns:a16="http://schemas.microsoft.com/office/drawing/2014/main" id="{82060D94-0EE4-129E-3586-078A5F093122}"/>
              </a:ext>
            </a:extLst>
          </p:cNvPr>
          <p:cNvSpPr txBox="1"/>
          <p:nvPr/>
        </p:nvSpPr>
        <p:spPr>
          <a:xfrm>
            <a:off x="492892" y="874455"/>
            <a:ext cx="11206213" cy="255454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developed system provides a clean, interactive, and user-friendly web interface that allows users to generate high-quality images from text prompts for web page design and usability interfaces. The application is built using the Django framework and offers a seamless experience from user authentication to image generation.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User-friendly interface for interaction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Text-to-Image Generation Interface</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Image Generation Process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Generated Output Display</a:t>
            </a:r>
          </a:p>
        </p:txBody>
      </p:sp>
      <p:pic>
        <p:nvPicPr>
          <p:cNvPr id="4" name="Picture 3">
            <a:extLst>
              <a:ext uri="{FF2B5EF4-FFF2-40B4-BE49-F238E27FC236}">
                <a16:creationId xmlns:a16="http://schemas.microsoft.com/office/drawing/2014/main" id="{40229169-916B-8D7A-BB32-8867B312121B}"/>
              </a:ext>
            </a:extLst>
          </p:cNvPr>
          <p:cNvPicPr>
            <a:picLocks noChangeAspect="1"/>
          </p:cNvPicPr>
          <p:nvPr/>
        </p:nvPicPr>
        <p:blipFill>
          <a:blip r:embed="rId2"/>
          <a:stretch>
            <a:fillRect/>
          </a:stretch>
        </p:blipFill>
        <p:spPr>
          <a:xfrm>
            <a:off x="2326103" y="3363533"/>
            <a:ext cx="7764381" cy="3494467"/>
          </a:xfrm>
          <a:prstGeom prst="rect">
            <a:avLst/>
          </a:prstGeom>
        </p:spPr>
      </p:pic>
    </p:spTree>
    <p:extLst>
      <p:ext uri="{BB962C8B-B14F-4D97-AF65-F5344CB8AC3E}">
        <p14:creationId xmlns:p14="http://schemas.microsoft.com/office/powerpoint/2010/main" val="1294098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A773960-F031-7DB7-FD39-29482ECB6AA3}"/>
              </a:ext>
            </a:extLst>
          </p:cNvPr>
          <p:cNvPicPr>
            <a:picLocks noChangeAspect="1"/>
          </p:cNvPicPr>
          <p:nvPr/>
        </p:nvPicPr>
        <p:blipFill>
          <a:blip r:embed="rId2"/>
          <a:stretch>
            <a:fillRect/>
          </a:stretch>
        </p:blipFill>
        <p:spPr>
          <a:xfrm>
            <a:off x="503787" y="336882"/>
            <a:ext cx="5499769" cy="3092115"/>
          </a:xfrm>
          <a:prstGeom prst="rect">
            <a:avLst/>
          </a:prstGeom>
        </p:spPr>
      </p:pic>
      <p:pic>
        <p:nvPicPr>
          <p:cNvPr id="12" name="Picture 11">
            <a:extLst>
              <a:ext uri="{FF2B5EF4-FFF2-40B4-BE49-F238E27FC236}">
                <a16:creationId xmlns:a16="http://schemas.microsoft.com/office/drawing/2014/main" id="{138C507A-8EDC-3C47-EEEE-3868BC8967DD}"/>
              </a:ext>
            </a:extLst>
          </p:cNvPr>
          <p:cNvPicPr>
            <a:picLocks noChangeAspect="1"/>
          </p:cNvPicPr>
          <p:nvPr/>
        </p:nvPicPr>
        <p:blipFill>
          <a:blip r:embed="rId3"/>
          <a:stretch>
            <a:fillRect/>
          </a:stretch>
        </p:blipFill>
        <p:spPr>
          <a:xfrm>
            <a:off x="6372930" y="336882"/>
            <a:ext cx="5499767" cy="3092114"/>
          </a:xfrm>
          <a:prstGeom prst="rect">
            <a:avLst/>
          </a:prstGeom>
        </p:spPr>
      </p:pic>
      <p:pic>
        <p:nvPicPr>
          <p:cNvPr id="14" name="Picture 13">
            <a:extLst>
              <a:ext uri="{FF2B5EF4-FFF2-40B4-BE49-F238E27FC236}">
                <a16:creationId xmlns:a16="http://schemas.microsoft.com/office/drawing/2014/main" id="{CF698953-AE7D-F2DE-9187-458AA4A514F1}"/>
              </a:ext>
            </a:extLst>
          </p:cNvPr>
          <p:cNvPicPr>
            <a:picLocks noChangeAspect="1"/>
          </p:cNvPicPr>
          <p:nvPr/>
        </p:nvPicPr>
        <p:blipFill>
          <a:blip r:embed="rId4"/>
          <a:stretch>
            <a:fillRect/>
          </a:stretch>
        </p:blipFill>
        <p:spPr>
          <a:xfrm>
            <a:off x="3046513" y="3428996"/>
            <a:ext cx="6098973" cy="3429004"/>
          </a:xfrm>
          <a:prstGeom prst="rect">
            <a:avLst/>
          </a:prstGeom>
        </p:spPr>
      </p:pic>
    </p:spTree>
    <p:extLst>
      <p:ext uri="{BB962C8B-B14F-4D97-AF65-F5344CB8AC3E}">
        <p14:creationId xmlns:p14="http://schemas.microsoft.com/office/powerpoint/2010/main" val="744710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CD6E2C-CBF6-8B41-6FE9-F5A034C1D1F3}"/>
              </a:ext>
            </a:extLst>
          </p:cNvPr>
          <p:cNvPicPr>
            <a:picLocks noChangeAspect="1"/>
          </p:cNvPicPr>
          <p:nvPr/>
        </p:nvPicPr>
        <p:blipFill>
          <a:blip r:embed="rId2"/>
          <a:stretch>
            <a:fillRect/>
          </a:stretch>
        </p:blipFill>
        <p:spPr>
          <a:xfrm>
            <a:off x="2907630" y="88230"/>
            <a:ext cx="6505566" cy="3657601"/>
          </a:xfrm>
          <a:prstGeom prst="rect">
            <a:avLst/>
          </a:prstGeom>
        </p:spPr>
      </p:pic>
      <p:pic>
        <p:nvPicPr>
          <p:cNvPr id="7" name="Picture 6">
            <a:extLst>
              <a:ext uri="{FF2B5EF4-FFF2-40B4-BE49-F238E27FC236}">
                <a16:creationId xmlns:a16="http://schemas.microsoft.com/office/drawing/2014/main" id="{0E5FA455-6A04-9DE7-F22E-7C9A3D1C9978}"/>
              </a:ext>
            </a:extLst>
          </p:cNvPr>
          <p:cNvPicPr>
            <a:picLocks noChangeAspect="1"/>
          </p:cNvPicPr>
          <p:nvPr/>
        </p:nvPicPr>
        <p:blipFill>
          <a:blip r:embed="rId3"/>
          <a:stretch>
            <a:fillRect/>
          </a:stretch>
        </p:blipFill>
        <p:spPr>
          <a:xfrm>
            <a:off x="2907629" y="3569368"/>
            <a:ext cx="6505565" cy="3200402"/>
          </a:xfrm>
          <a:prstGeom prst="rect">
            <a:avLst/>
          </a:prstGeom>
        </p:spPr>
      </p:pic>
    </p:spTree>
    <p:extLst>
      <p:ext uri="{BB962C8B-B14F-4D97-AF65-F5344CB8AC3E}">
        <p14:creationId xmlns:p14="http://schemas.microsoft.com/office/powerpoint/2010/main" val="1395703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A8E01C-CA87-661B-BEA5-B2A7ECC099BE}"/>
              </a:ext>
            </a:extLst>
          </p:cNvPr>
          <p:cNvPicPr>
            <a:picLocks noChangeAspect="1"/>
          </p:cNvPicPr>
          <p:nvPr/>
        </p:nvPicPr>
        <p:blipFill>
          <a:blip r:embed="rId2"/>
          <a:stretch>
            <a:fillRect/>
          </a:stretch>
        </p:blipFill>
        <p:spPr>
          <a:xfrm>
            <a:off x="2807728" y="88670"/>
            <a:ext cx="6673156" cy="3751825"/>
          </a:xfrm>
          <a:prstGeom prst="rect">
            <a:avLst/>
          </a:prstGeom>
        </p:spPr>
      </p:pic>
      <p:pic>
        <p:nvPicPr>
          <p:cNvPr id="7" name="Picture 6">
            <a:extLst>
              <a:ext uri="{FF2B5EF4-FFF2-40B4-BE49-F238E27FC236}">
                <a16:creationId xmlns:a16="http://schemas.microsoft.com/office/drawing/2014/main" id="{52FBA7D9-94DD-34D2-38E3-31A6DB4E6CD5}"/>
              </a:ext>
            </a:extLst>
          </p:cNvPr>
          <p:cNvPicPr>
            <a:picLocks noChangeAspect="1"/>
          </p:cNvPicPr>
          <p:nvPr/>
        </p:nvPicPr>
        <p:blipFill>
          <a:blip r:embed="rId3"/>
          <a:stretch>
            <a:fillRect/>
          </a:stretch>
        </p:blipFill>
        <p:spPr>
          <a:xfrm>
            <a:off x="2807728" y="3664675"/>
            <a:ext cx="6673156" cy="3104656"/>
          </a:xfrm>
          <a:prstGeom prst="rect">
            <a:avLst/>
          </a:prstGeom>
        </p:spPr>
      </p:pic>
    </p:spTree>
    <p:extLst>
      <p:ext uri="{BB962C8B-B14F-4D97-AF65-F5344CB8AC3E}">
        <p14:creationId xmlns:p14="http://schemas.microsoft.com/office/powerpoint/2010/main" val="3053909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0C2295-14C6-D660-3619-1C5475B612B3}"/>
              </a:ext>
            </a:extLst>
          </p:cNvPr>
          <p:cNvPicPr>
            <a:picLocks noChangeAspect="1"/>
          </p:cNvPicPr>
          <p:nvPr/>
        </p:nvPicPr>
        <p:blipFill>
          <a:blip r:embed="rId2"/>
          <a:stretch>
            <a:fillRect/>
          </a:stretch>
        </p:blipFill>
        <p:spPr>
          <a:xfrm>
            <a:off x="2810424" y="59631"/>
            <a:ext cx="6350759" cy="3468029"/>
          </a:xfrm>
          <a:prstGeom prst="rect">
            <a:avLst/>
          </a:prstGeom>
        </p:spPr>
      </p:pic>
      <p:pic>
        <p:nvPicPr>
          <p:cNvPr id="7" name="Picture 6">
            <a:extLst>
              <a:ext uri="{FF2B5EF4-FFF2-40B4-BE49-F238E27FC236}">
                <a16:creationId xmlns:a16="http://schemas.microsoft.com/office/drawing/2014/main" id="{7FAF4B66-F737-FC7F-30C0-0466B9A9E704}"/>
              </a:ext>
            </a:extLst>
          </p:cNvPr>
          <p:cNvPicPr>
            <a:picLocks noChangeAspect="1"/>
          </p:cNvPicPr>
          <p:nvPr/>
        </p:nvPicPr>
        <p:blipFill>
          <a:blip r:embed="rId3"/>
          <a:stretch>
            <a:fillRect/>
          </a:stretch>
        </p:blipFill>
        <p:spPr>
          <a:xfrm>
            <a:off x="2810424" y="3527660"/>
            <a:ext cx="6350758" cy="3270709"/>
          </a:xfrm>
          <a:prstGeom prst="rect">
            <a:avLst/>
          </a:prstGeom>
        </p:spPr>
      </p:pic>
    </p:spTree>
    <p:extLst>
      <p:ext uri="{BB962C8B-B14F-4D97-AF65-F5344CB8AC3E}">
        <p14:creationId xmlns:p14="http://schemas.microsoft.com/office/powerpoint/2010/main" val="466837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6549D8-44E4-BAF5-C69A-CA69C9D0D20A}"/>
              </a:ext>
            </a:extLst>
          </p:cNvPr>
          <p:cNvSpPr txBox="1"/>
          <p:nvPr/>
        </p:nvSpPr>
        <p:spPr>
          <a:xfrm>
            <a:off x="389020" y="920159"/>
            <a:ext cx="11090709" cy="4939814"/>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proposed AI-Driven Text-to-Image Web Design Framework offers several significant advantages over traditional manual design methods. By integrating Generative AI (Stable Diffusion) with a user-friendly web interface, the system provides an efficient, accessible, and modern solution for visual content creation in web page construction.</a:t>
            </a:r>
          </a:p>
          <a:p>
            <a:pPr algn="just">
              <a:lnSpc>
                <a:spcPct val="150000"/>
              </a:lnSpc>
              <a:buNone/>
            </a:pPr>
            <a:r>
              <a:rPr lang="en-US" sz="1900" b="1" dirty="0">
                <a:latin typeface="Times New Roman" panose="02020603050405020304" pitchFamily="18" charset="0"/>
                <a:cs typeface="Times New Roman" panose="02020603050405020304" pitchFamily="18" charset="0"/>
              </a:rPr>
              <a:t>Advantages:</a:t>
            </a:r>
            <a:endParaRPr lang="en-US"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 Speed and Efficiency</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Creative Flexibility</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Cost-Effective:</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Automated Image Generation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Scalability</a:t>
            </a:r>
          </a:p>
          <a:p>
            <a:pPr algn="just">
              <a:lnSpc>
                <a:spcPct val="150000"/>
              </a:lnSpc>
              <a:buNone/>
            </a:pPr>
            <a:r>
              <a:rPr lang="en-US" sz="1900" b="1" dirty="0">
                <a:latin typeface="Times New Roman" panose="02020603050405020304" pitchFamily="18" charset="0"/>
                <a:cs typeface="Times New Roman" panose="02020603050405020304" pitchFamily="18" charset="0"/>
              </a:rPr>
              <a:t>Applications:</a:t>
            </a:r>
            <a:endParaRPr lang="en-US" sz="19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Web Development and UI/UX Design</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E-commerce Platforms: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Freelance and Small Business Design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Digital Marketing and Content Creation</a:t>
            </a:r>
            <a:endParaRPr lang="en-US" sz="2000" dirty="0">
              <a:effectLst/>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E823A560-4434-DF6B-96C0-BED7FBF5647A}"/>
              </a:ext>
            </a:extLst>
          </p:cNvPr>
          <p:cNvSpPr txBox="1">
            <a:spLocks/>
          </p:cNvSpPr>
          <p:nvPr/>
        </p:nvSpPr>
        <p:spPr>
          <a:xfrm>
            <a:off x="1452503" y="83113"/>
            <a:ext cx="9286993" cy="837046"/>
          </a:xfrm>
          <a:prstGeom prst="rect">
            <a:avLst/>
          </a:prstGeom>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itchFamily="18" charset="0"/>
              <a:buNone/>
            </a:pPr>
            <a:r>
              <a:rPr lang="en-IN" sz="2800" dirty="0">
                <a:solidFill>
                  <a:srgbClr val="6666FF"/>
                </a:solidFill>
                <a:latin typeface="Times New Roman" panose="02020603050405020304" pitchFamily="18" charset="0"/>
                <a:cs typeface="Times New Roman" panose="02020603050405020304" pitchFamily="18" charset="0"/>
              </a:rPr>
              <a:t>ADVANTAGES &amp; APPLICATIONS</a:t>
            </a:r>
          </a:p>
        </p:txBody>
      </p:sp>
    </p:spTree>
    <p:extLst>
      <p:ext uri="{BB962C8B-B14F-4D97-AF65-F5344CB8AC3E}">
        <p14:creationId xmlns:p14="http://schemas.microsoft.com/office/powerpoint/2010/main" val="218211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A9117F7-832D-4295-7E54-04E7FA0DDB6E}"/>
              </a:ext>
            </a:extLst>
          </p:cNvPr>
          <p:cNvSpPr txBox="1">
            <a:spLocks/>
          </p:cNvSpPr>
          <p:nvPr/>
        </p:nvSpPr>
        <p:spPr>
          <a:xfrm>
            <a:off x="1452503" y="352621"/>
            <a:ext cx="9286993" cy="837046"/>
          </a:xfrm>
          <a:prstGeom prst="rect">
            <a:avLst/>
          </a:prstGeom>
          <a:effectLst/>
        </p:spPr>
        <p:txBody>
          <a:bodyPr vert="horz" lIns="91440" tIns="45720" rIns="91440" bIns="45720" rtlCol="0" anchor="t" anchorCtr="0">
            <a:normAutofit/>
          </a:bodyPr>
          <a:lst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lgn="ctr">
              <a:buFont typeface="Georgia" pitchFamily="18" charset="0"/>
              <a:buNone/>
            </a:pPr>
            <a:r>
              <a:rPr lang="en-IN" sz="2800" dirty="0">
                <a:solidFill>
                  <a:srgbClr val="6666FF"/>
                </a:solidFill>
                <a:latin typeface="Times New Roman" panose="02020603050405020304" pitchFamily="18" charset="0"/>
                <a:cs typeface="Times New Roman" panose="02020603050405020304" pitchFamily="18" charset="0"/>
              </a:rPr>
              <a:t>CONCLUSION &amp; FUTURE SCOPE</a:t>
            </a:r>
          </a:p>
        </p:txBody>
      </p:sp>
      <p:sp>
        <p:nvSpPr>
          <p:cNvPr id="5" name="TextBox 4">
            <a:extLst>
              <a:ext uri="{FF2B5EF4-FFF2-40B4-BE49-F238E27FC236}">
                <a16:creationId xmlns:a16="http://schemas.microsoft.com/office/drawing/2014/main" id="{510800F8-1861-C923-CC58-C3A0E41162EB}"/>
              </a:ext>
            </a:extLst>
          </p:cNvPr>
          <p:cNvSpPr txBox="1"/>
          <p:nvPr/>
        </p:nvSpPr>
        <p:spPr>
          <a:xfrm>
            <a:off x="743149" y="771144"/>
            <a:ext cx="10705699" cy="5453865"/>
          </a:xfrm>
          <a:prstGeom prst="rect">
            <a:avLst/>
          </a:prstGeom>
          <a:noFill/>
        </p:spPr>
        <p:txBody>
          <a:bodyPr wrap="square">
            <a:spAutoFit/>
          </a:bodyPr>
          <a:lstStyle/>
          <a:p>
            <a:pPr algn="just">
              <a:lnSpc>
                <a:spcPct val="150000"/>
              </a:lnSpc>
              <a:buNone/>
            </a:pPr>
            <a:r>
              <a:rPr lang="en-US" sz="2400" b="1" dirty="0">
                <a:latin typeface="Times New Roman" panose="02020603050405020304" pitchFamily="18" charset="0"/>
                <a:cs typeface="Times New Roman" panose="02020603050405020304" pitchFamily="18" charset="0"/>
              </a:rPr>
              <a:t>Conclusion:</a:t>
            </a:r>
          </a:p>
          <a:p>
            <a:pPr algn="just"/>
            <a:r>
              <a:rPr lang="en-US" sz="2000" dirty="0">
                <a:latin typeface="Times New Roman" panose="02020603050405020304" pitchFamily="18" charset="0"/>
                <a:cs typeface="Times New Roman" panose="02020603050405020304" pitchFamily="18" charset="0"/>
              </a:rPr>
              <a:t>The project successfully demonstrates the implementation of a Generative AI-based text-to-image generation system integrated into a user-friendly web application for designing usability interfaces in web page construction. By leveraging the Stable Diffusion model within the Django framework, the system enables users to generate high-quality, style-customized images directly from natural language textual prompts. The developed application provides essential features such as user registration, secure authentication, style selection (Realistic, Iconic, Algerian), prompt enhancement, and real-time image generation.</a:t>
            </a:r>
          </a:p>
          <a:p>
            <a:endParaRPr lang="en-US" sz="2000" dirty="0">
              <a:latin typeface="Times New Roman" panose="02020603050405020304" pitchFamily="18" charset="0"/>
              <a:cs typeface="Times New Roman" panose="02020603050405020304" pitchFamily="18" charset="0"/>
            </a:endParaRPr>
          </a:p>
          <a:p>
            <a:pPr algn="just">
              <a:lnSpc>
                <a:spcPct val="150000"/>
              </a:lnSpc>
              <a:buNone/>
            </a:pPr>
            <a:r>
              <a:rPr lang="en-US" sz="2400" b="1" dirty="0">
                <a:latin typeface="Times New Roman" panose="02020603050405020304" pitchFamily="18" charset="0"/>
                <a:cs typeface="Times New Roman" panose="02020603050405020304" pitchFamily="18" charset="0"/>
              </a:rPr>
              <a:t>Future Scope:</a:t>
            </a:r>
            <a:endParaRPr lang="en-US" sz="24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Extend the system beyond single image generation to create complete web page layouts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Develop plugins or APIs for seamless integration with popular design tools such as Figma, Canva</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Create a cross-platform mobile application to enable designers to generate and iterate on web interface visuals anytime and anywhere.</a:t>
            </a:r>
          </a:p>
        </p:txBody>
      </p:sp>
    </p:spTree>
    <p:extLst>
      <p:ext uri="{BB962C8B-B14F-4D97-AF65-F5344CB8AC3E}">
        <p14:creationId xmlns:p14="http://schemas.microsoft.com/office/powerpoint/2010/main" val="1035151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67E314B-93F7-AAA8-2145-96F0E8FA8B4B}"/>
              </a:ext>
            </a:extLst>
          </p:cNvPr>
          <p:cNvSpPr txBox="1">
            <a:spLocks/>
          </p:cNvSpPr>
          <p:nvPr/>
        </p:nvSpPr>
        <p:spPr>
          <a:xfrm>
            <a:off x="-933172" y="2686243"/>
            <a:ext cx="8683348" cy="1143000"/>
          </a:xfrm>
          <a:prstGeom prst="rect">
            <a:avLst/>
          </a:prstGeom>
          <a:effectLst/>
        </p:spPr>
        <p:txBody>
          <a:bodyPr vert="horz" lIns="91440" tIns="45720" rIns="91440" bIns="45720" rtlCol="0" anchor="t" anchorCtr="0">
            <a:noAutofit/>
          </a:bodyPr>
          <a:lst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indent="0">
              <a:buFont typeface="Georgia" pitchFamily="18" charset="0"/>
              <a:buNone/>
            </a:pPr>
            <a:r>
              <a:rPr lang="en-US" sz="4800"/>
              <a:t>THANK YOU</a:t>
            </a:r>
            <a:endParaRPr lang="en-IN" sz="4800" dirty="0"/>
          </a:p>
        </p:txBody>
      </p:sp>
    </p:spTree>
    <p:extLst>
      <p:ext uri="{BB962C8B-B14F-4D97-AF65-F5344CB8AC3E}">
        <p14:creationId xmlns:p14="http://schemas.microsoft.com/office/powerpoint/2010/main" val="133464106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3.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4.xml><?xml version="1.0" encoding="utf-8"?>
<a:theme xmlns:a="http://schemas.openxmlformats.org/drawingml/2006/main" name="Waveform">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AITS</Template>
  <TotalTime>2302</TotalTime>
  <Words>1876</Words>
  <Application>Microsoft Office PowerPoint</Application>
  <PresentationFormat>Widescreen</PresentationFormat>
  <Paragraphs>169</Paragraphs>
  <Slides>22</Slides>
  <Notes>0</Notes>
  <HiddenSlides>0</HiddenSlides>
  <MMClips>0</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22</vt:i4>
      </vt:variant>
    </vt:vector>
  </HeadingPairs>
  <TitlesOfParts>
    <vt:vector size="41" baseType="lpstr">
      <vt:lpstr>Algerian</vt:lpstr>
      <vt:lpstr>Arial</vt:lpstr>
      <vt:lpstr>Arial Black</vt:lpstr>
      <vt:lpstr>Arial Narrow</vt:lpstr>
      <vt:lpstr>Candara</vt:lpstr>
      <vt:lpstr>Consolas</vt:lpstr>
      <vt:lpstr>Corbel</vt:lpstr>
      <vt:lpstr>Georgia</vt:lpstr>
      <vt:lpstr>Symbol</vt:lpstr>
      <vt:lpstr>Times New Roman</vt:lpstr>
      <vt:lpstr>Trebuchet MS</vt:lpstr>
      <vt:lpstr>Wingdings</vt:lpstr>
      <vt:lpstr>Wingdings 2</vt:lpstr>
      <vt:lpstr>Wingdings 3</vt:lpstr>
      <vt:lpstr>Metro</vt:lpstr>
      <vt:lpstr>Horizon</vt:lpstr>
      <vt:lpstr>Civic</vt:lpstr>
      <vt:lpstr>Waveform</vt:lpstr>
      <vt:lpstr>Slipstream</vt:lpstr>
      <vt:lpstr> ANNAMACHARYA INSTITUTE OF TECHNOLOGY AND SCIENCES::TIRUPATI (AUTONOMOUS) Artificial Intelligence and Data Science A.Y.: 2025-2026 PROJECT REVIEW Implementation of Text-to-Image Generators in Designing Usability Interfaces for Web Page Construction  </vt:lpstr>
      <vt:lpstr>ABSTRACT</vt:lpstr>
      <vt:lpstr>PROBLEM STATEMENT</vt:lpstr>
      <vt:lpstr>PowerPoint Presentation</vt:lpstr>
      <vt:lpstr>PowerPoint Presentation</vt:lpstr>
      <vt:lpstr>PowerPoint Presentation</vt:lpstr>
      <vt:lpstr>EXISTING SYSTEM &amp; LIMITATIONS</vt:lpstr>
      <vt:lpstr>PROPOSED SYSTEM</vt:lpstr>
      <vt:lpstr>MODEL ARCHITECTURE</vt:lpstr>
      <vt:lpstr>PowerPoint Presentation</vt:lpstr>
      <vt:lpstr>SYSTEM WORKFLOW</vt:lpstr>
      <vt:lpstr>COMPLETE FEATURE ENGINEERING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sasi kumar</dc:creator>
  <cp:lastModifiedBy>ASHISH RAJ</cp:lastModifiedBy>
  <cp:revision>141</cp:revision>
  <dcterms:created xsi:type="dcterms:W3CDTF">2021-12-20T13:54:07Z</dcterms:created>
  <dcterms:modified xsi:type="dcterms:W3CDTF">2026-04-30T09:06:57Z</dcterms:modified>
</cp:coreProperties>
</file>